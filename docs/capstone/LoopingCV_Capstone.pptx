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LoopingCV as an explainable job-search and application-review prototype. Replace the student and department placeholders. This is not a claim that the public service or every requested integration is already complete.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repetitive discovery, repeated résumé uploads and scattered tracking. The objective is a private workspace that centralizes the workflow while requiring explicit human verification. It does not guarantee that a candidate qualifies or receives interviews.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six stages. Extraction reads literal evidence and preferences are entered by the user. Listings come from actual public feeds. A match score is only a similarity signal. Gmail transport is implemented but needs configuration; automated ATS form submission is not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uses Google OIDC for private sign-in. The workflow layer runs extraction, scoring, review and approval checks. PostgreSQL isolates records by a stable identity. Public feeds are read-only. Gmail uses a user's own encrypted refresh token and only sends after a database reservation. The scheduler discovers jobs and never sends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actual implementation: recognized skill overlap contributes 50%, scaled keyword overlap 32% and title overlap 18%. If a job has no recognized skills, keyword overlap substitutes for that component. Scores are clamped to 0–100. These are heuristic similarity scores, not calibrated probabilities. Accuracy has not been measured on a labeled dataset.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screenshot is an actual browser render of the current local interface. It is not a deployed public website or evidence of a completed job application. Show the New Loop wizard, CV Checker, All Matches, My Applications and Board. Share app becomes useful after a valid public deployment is configured.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why approved sending needs PostgreSQL concurrency protection. Approval fingerprints prevent changing an already-approved message. Per-user locking enforces quotas. Sent or uncertain applications cannot be automatically retried. Remote database TLS is verified and Gmail tokens are encrypted. These safeguards are covered by tests but real delivery still needs a deployed acceptance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suite passed with 32 checks and no skips, including concurrent approvals and encrypted, user-bound, one-use OAuth persistence. Provider sends in the suite are mocked: these tests do not establish real delivery. Browser checks exercised desktop/mobile navigation. Live read-only Greenhouse discovery also returned actual India listings. Model accuracy was not measured.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about status. Résumé extraction, loops, discovery, matching, review and tracking are implemented. Gmail transport and scheduling need external configuration. ATS submission and inbox synchronization are not implemented. Interviews and rejections are manually confirmed. The public deployment needs the user's Streamlit, database and Google accounts.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screen means the app code is running but auth/database secrets are missing. Use the actual Streamlit app URL for both Google callbacks. Enter private credentials in Streamlit Secrets. Add demo friends to Google test users while OAuth is in testing. Validate separate accounts and approved Gmail delivery before presenting the integration as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these six actions. In local mode, sending is disabled and the presentation should show the saved draft and attachment review. Once hosted sign-in, PostgreSQL and per-user Gmail are configured, the owner can approve an intentional real test email and verify Gmail Sent. Do not send applications using fictional demo credentials or a fictional résumé.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measurable next steps rather than promising perfection. Publish and validate the authenticated app; evaluate ranking on a labeled dataset; add only authorized ATS provider adapters; implement inbox tracking with the required additional OAuth scopes and consent. The current version is a tested prototype with documented limits.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53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94BEFF"/>
                </a:solidFill>
                <a:latin typeface="Arial"/>
              </a:defRPr>
            </a:pPr>
            <a:r>
              <a:t>CAPSTONE PROJECT</a:t>
            </a:r>
          </a:p>
        </p:txBody>
      </p:sp>
      <p:sp>
        <p:nvSpPr>
          <p:cNvPr id="4" name="TextBox 3"/>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B2C4DE"/>
                </a:solidFill>
                <a:latin typeface="Arial"/>
              </a:defRPr>
            </a:pPr>
            <a:r>
              <a:t>LoopingCV | Capstone prototype</a:t>
            </a:r>
          </a:p>
        </p:txBody>
      </p:sp>
      <p:sp>
        <p:nvSpPr>
          <p:cNvPr id="5" name="TextBox 4"/>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B2C4DE"/>
                </a:solidFill>
                <a:latin typeface="Arial"/>
              </a:defRPr>
            </a:pPr>
            <a:r>
              <a:t>01 / 12</a:t>
            </a:r>
          </a:p>
        </p:txBody>
      </p:sp>
      <p:sp>
        <p:nvSpPr>
          <p:cNvPr id="6" name="TextBox 5"/>
          <p:cNvSpPr txBox="1"/>
          <p:nvPr/>
        </p:nvSpPr>
        <p:spPr>
          <a:xfrm>
            <a:off x="685800" y="1234440"/>
            <a:ext cx="10515600" cy="1051560"/>
          </a:xfrm>
          <a:prstGeom prst="rect">
            <a:avLst/>
          </a:prstGeom>
          <a:noFill/>
        </p:spPr>
        <p:txBody>
          <a:bodyPr wrap="none" lIns="0" rIns="0" tIns="0" bIns="0">
            <a:spAutoFit/>
          </a:bodyPr>
          <a:lstStyle/>
          <a:p>
            <a:pPr>
              <a:lnSpc>
                <a:spcPts val="7076"/>
              </a:lnSpc>
              <a:spcBef>
                <a:spcPts val="0"/>
              </a:spcBef>
              <a:spcAft>
                <a:spcPts val="0"/>
              </a:spcAft>
              <a:defRPr sz="5800" b="1">
                <a:solidFill>
                  <a:srgbClr val="FFFFFF"/>
                </a:solidFill>
                <a:latin typeface="Arial"/>
              </a:defRPr>
            </a:pPr>
            <a:r>
              <a:t>LoopingCV</a:t>
            </a:r>
          </a:p>
        </p:txBody>
      </p:sp>
      <p:sp>
        <p:nvSpPr>
          <p:cNvPr id="7" name="TextBox 6"/>
          <p:cNvSpPr txBox="1"/>
          <p:nvPr/>
        </p:nvSpPr>
        <p:spPr>
          <a:xfrm>
            <a:off x="713232" y="2487168"/>
            <a:ext cx="10515600" cy="1097280"/>
          </a:xfrm>
          <a:prstGeom prst="rect">
            <a:avLst/>
          </a:prstGeom>
          <a:noFill/>
        </p:spPr>
        <p:txBody>
          <a:bodyPr wrap="none" lIns="0" rIns="0" tIns="0" bIns="0">
            <a:spAutoFit/>
          </a:bodyPr>
          <a:lstStyle/>
          <a:p>
            <a:pPr>
              <a:lnSpc>
                <a:spcPts val="3415"/>
              </a:lnSpc>
              <a:spcBef>
                <a:spcPts val="0"/>
              </a:spcBef>
              <a:spcAft>
                <a:spcPts val="0"/>
              </a:spcAft>
              <a:defRPr sz="2800" b="0">
                <a:solidFill>
                  <a:srgbClr val="D6E5FA"/>
                </a:solidFill>
                <a:latin typeface="Arial"/>
              </a:defRPr>
            </a:pPr>
            <a:r>
              <a:t>Evidence-based job search.</a:t>
            </a:r>
          </a:p>
          <a:p>
            <a:pPr>
              <a:lnSpc>
                <a:spcPts val="3415"/>
              </a:lnSpc>
              <a:spcBef>
                <a:spcPts val="0"/>
              </a:spcBef>
              <a:spcAft>
                <a:spcPts val="0"/>
              </a:spcAft>
              <a:defRPr sz="2800" b="0">
                <a:solidFill>
                  <a:srgbClr val="D6E5FA"/>
                </a:solidFill>
                <a:latin typeface="Arial"/>
              </a:defRPr>
            </a:pPr>
            <a:r>
              <a:t>Applications you review and approve.</a:t>
            </a:r>
          </a:p>
        </p:txBody>
      </p:sp>
      <p:sp>
        <p:nvSpPr>
          <p:cNvPr id="8" name="Rounded Rectangle 7"/>
          <p:cNvSpPr/>
          <p:nvPr/>
        </p:nvSpPr>
        <p:spPr>
          <a:xfrm>
            <a:off x="731520" y="4023360"/>
            <a:ext cx="5120640" cy="5943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87952"/>
            <a:ext cx="4800600" cy="292608"/>
          </a:xfrm>
          <a:prstGeom prst="rect">
            <a:avLst/>
          </a:prstGeom>
          <a:noFill/>
        </p:spPr>
        <p:txBody>
          <a:bodyPr wrap="none" lIns="0" rIns="0" tIns="0" bIns="0">
            <a:spAutoFit/>
          </a:bodyPr>
          <a:lstStyle/>
          <a:p>
            <a:pPr>
              <a:lnSpc>
                <a:spcPts val="1586"/>
              </a:lnSpc>
              <a:spcBef>
                <a:spcPts val="0"/>
              </a:spcBef>
              <a:spcAft>
                <a:spcPts val="0"/>
              </a:spcAft>
              <a:defRPr sz="1300" b="0">
                <a:solidFill>
                  <a:srgbClr val="FFFFFF"/>
                </a:solidFill>
                <a:latin typeface="Arial"/>
              </a:defRPr>
            </a:pPr>
            <a:r>
              <a:t>Public URL created | Account setup pending</a:t>
            </a:r>
          </a:p>
        </p:txBody>
      </p:sp>
      <p:sp>
        <p:nvSpPr>
          <p:cNvPr id="10" name="TextBox 9"/>
          <p:cNvSpPr txBox="1"/>
          <p:nvPr/>
        </p:nvSpPr>
        <p:spPr>
          <a:xfrm>
            <a:off x="731520" y="4983480"/>
            <a:ext cx="10515600" cy="777240"/>
          </a:xfrm>
          <a:prstGeom prst="rect">
            <a:avLst/>
          </a:prstGeom>
          <a:noFill/>
        </p:spPr>
        <p:txBody>
          <a:bodyPr wrap="none" lIns="0" rIns="0" tIns="0" bIns="0">
            <a:spAutoFit/>
          </a:bodyPr>
          <a:lstStyle/>
          <a:p>
            <a:pPr>
              <a:lnSpc>
                <a:spcPts val="2074"/>
              </a:lnSpc>
              <a:spcBef>
                <a:spcPts val="0"/>
              </a:spcBef>
              <a:spcAft>
                <a:spcPts val="0"/>
              </a:spcAft>
              <a:defRPr sz="1700" b="0">
                <a:solidFill>
                  <a:srgbClr val="D6E5FA"/>
                </a:solidFill>
                <a:latin typeface="Arial"/>
              </a:defRPr>
            </a:pPr>
            <a:r>
              <a:t>Student name: ____________________</a:t>
            </a:r>
          </a:p>
          <a:p>
            <a:pPr>
              <a:lnSpc>
                <a:spcPts val="2074"/>
              </a:lnSpc>
              <a:spcBef>
                <a:spcPts val="0"/>
              </a:spcBef>
              <a:spcAft>
                <a:spcPts val="0"/>
              </a:spcAft>
              <a:defRPr sz="1700" b="0">
                <a:solidFill>
                  <a:srgbClr val="D6E5FA"/>
                </a:solidFill>
                <a:latin typeface="Arial"/>
              </a:defRPr>
            </a:pPr>
            <a:r>
              <a:t>Register number / Department: 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01 / PROBLEM AND OBJECTIVE</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Reduce repetitive job-search work</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Keep the user in control of facts, eligibility and every outgoing application.</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02 / 12</a:t>
            </a:r>
          </a:p>
        </p:txBody>
      </p:sp>
      <p:sp>
        <p:nvSpPr>
          <p:cNvPr id="8" name="Rounded Rectangle 7"/>
          <p:cNvSpPr/>
          <p:nvPr/>
        </p:nvSpPr>
        <p:spPr>
          <a:xfrm>
            <a:off x="594360" y="1947672"/>
            <a:ext cx="5303520" cy="333756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12264"/>
            <a:ext cx="4937759"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PROBLEM</a:t>
            </a:r>
          </a:p>
        </p:txBody>
      </p:sp>
      <p:sp>
        <p:nvSpPr>
          <p:cNvPr id="10" name="TextBox 9"/>
          <p:cNvSpPr txBox="1"/>
          <p:nvPr/>
        </p:nvSpPr>
        <p:spPr>
          <a:xfrm>
            <a:off x="777240" y="2459736"/>
            <a:ext cx="4937759"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Current difficulties</a:t>
            </a:r>
          </a:p>
        </p:txBody>
      </p:sp>
      <p:sp>
        <p:nvSpPr>
          <p:cNvPr id="11" name="TextBox 10"/>
          <p:cNvSpPr txBox="1"/>
          <p:nvPr/>
        </p:nvSpPr>
        <p:spPr>
          <a:xfrm>
            <a:off x="777240" y="3218688"/>
            <a:ext cx="4937759" cy="1892807"/>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Searching many job sites manually</a:t>
            </a:r>
          </a:p>
          <a:p>
            <a:pPr>
              <a:lnSpc>
                <a:spcPts val="1830"/>
              </a:lnSpc>
              <a:spcBef>
                <a:spcPts val="0"/>
              </a:spcBef>
              <a:spcAft>
                <a:spcPts val="0"/>
              </a:spcAft>
              <a:defRPr sz="1500" b="0">
                <a:solidFill>
                  <a:srgbClr val="5C6D82"/>
                </a:solidFill>
                <a:latin typeface="Arial"/>
              </a:defRPr>
            </a:pPr>
            <a:r>
              <a:t>Re-entering résumé information</a:t>
            </a:r>
          </a:p>
          <a:p>
            <a:pPr>
              <a:lnSpc>
                <a:spcPts val="1830"/>
              </a:lnSpc>
              <a:spcBef>
                <a:spcPts val="0"/>
              </a:spcBef>
              <a:spcAft>
                <a:spcPts val="0"/>
              </a:spcAft>
              <a:defRPr sz="1500" b="0">
                <a:solidFill>
                  <a:srgbClr val="5C6D82"/>
                </a:solidFill>
                <a:latin typeface="Arial"/>
              </a:defRPr>
            </a:pPr>
            <a:r>
              <a:t>Writing generic application messages</a:t>
            </a:r>
          </a:p>
          <a:p>
            <a:pPr>
              <a:lnSpc>
                <a:spcPts val="1830"/>
              </a:lnSpc>
              <a:spcBef>
                <a:spcPts val="0"/>
              </a:spcBef>
              <a:spcAft>
                <a:spcPts val="0"/>
              </a:spcAft>
              <a:defRPr sz="1500" b="0">
                <a:solidFill>
                  <a:srgbClr val="5C6D82"/>
                </a:solidFill>
                <a:latin typeface="Arial"/>
              </a:defRPr>
            </a:pPr>
            <a:r>
              <a:t>Tracking responses across different tools</a:t>
            </a:r>
          </a:p>
        </p:txBody>
      </p:sp>
      <p:sp>
        <p:nvSpPr>
          <p:cNvPr id="12" name="Rounded Rectangle 11"/>
          <p:cNvSpPr/>
          <p:nvPr/>
        </p:nvSpPr>
        <p:spPr>
          <a:xfrm>
            <a:off x="6263640" y="1947672"/>
            <a:ext cx="5303520" cy="333756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112264"/>
            <a:ext cx="4937759"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OBJECTIVE</a:t>
            </a:r>
          </a:p>
        </p:txBody>
      </p:sp>
      <p:sp>
        <p:nvSpPr>
          <p:cNvPr id="14" name="TextBox 13"/>
          <p:cNvSpPr txBox="1"/>
          <p:nvPr/>
        </p:nvSpPr>
        <p:spPr>
          <a:xfrm>
            <a:off x="6446520" y="2459736"/>
            <a:ext cx="4937759"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LoopingCV approach</a:t>
            </a:r>
          </a:p>
        </p:txBody>
      </p:sp>
      <p:sp>
        <p:nvSpPr>
          <p:cNvPr id="15" name="TextBox 14"/>
          <p:cNvSpPr txBox="1"/>
          <p:nvPr/>
        </p:nvSpPr>
        <p:spPr>
          <a:xfrm>
            <a:off x="6446520" y="3218688"/>
            <a:ext cx="4937759" cy="1892807"/>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Upload once and review evidence</a:t>
            </a:r>
          </a:p>
          <a:p>
            <a:pPr>
              <a:lnSpc>
                <a:spcPts val="1830"/>
              </a:lnSpc>
              <a:spcBef>
                <a:spcPts val="0"/>
              </a:spcBef>
              <a:spcAft>
                <a:spcPts val="0"/>
              </a:spcAft>
              <a:defRPr sz="1500" b="0">
                <a:solidFill>
                  <a:srgbClr val="5C6D82"/>
                </a:solidFill>
                <a:latin typeface="Arial"/>
              </a:defRPr>
            </a:pPr>
            <a:r>
              <a:t>Save India / remote search loops</a:t>
            </a:r>
          </a:p>
          <a:p>
            <a:pPr>
              <a:lnSpc>
                <a:spcPts val="1830"/>
              </a:lnSpc>
              <a:spcBef>
                <a:spcPts val="0"/>
              </a:spcBef>
              <a:spcAft>
                <a:spcPts val="0"/>
              </a:spcAft>
              <a:defRPr sz="1500" b="0">
                <a:solidFill>
                  <a:srgbClr val="5C6D82"/>
                </a:solidFill>
                <a:latin typeface="Arial"/>
              </a:defRPr>
            </a:pPr>
            <a:r>
              <a:t>Rank actual public listings</a:t>
            </a:r>
          </a:p>
          <a:p>
            <a:pPr>
              <a:lnSpc>
                <a:spcPts val="1830"/>
              </a:lnSpc>
              <a:spcBef>
                <a:spcPts val="0"/>
              </a:spcBef>
              <a:spcAft>
                <a:spcPts val="0"/>
              </a:spcAft>
              <a:defRPr sz="1500" b="0">
                <a:solidFill>
                  <a:srgbClr val="5C6D82"/>
                </a:solidFill>
                <a:latin typeface="Arial"/>
              </a:defRPr>
            </a:pPr>
            <a:r>
              <a:t>Approve exact messages and track status</a:t>
            </a:r>
          </a:p>
        </p:txBody>
      </p:sp>
      <p:sp>
        <p:nvSpPr>
          <p:cNvPr id="16" name="TextBox 15"/>
          <p:cNvSpPr txBox="1"/>
          <p:nvPr/>
        </p:nvSpPr>
        <p:spPr>
          <a:xfrm>
            <a:off x="685800" y="5705856"/>
            <a:ext cx="10789920" cy="365760"/>
          </a:xfrm>
          <a:prstGeom prst="rect">
            <a:avLst/>
          </a:prstGeom>
          <a:noFill/>
        </p:spPr>
        <p:txBody>
          <a:bodyPr wrap="none" lIns="0" rIns="0" tIns="0" bIns="0">
            <a:spAutoFit/>
          </a:bodyPr>
          <a:lstStyle/>
          <a:p>
            <a:pPr>
              <a:lnSpc>
                <a:spcPts val="2318"/>
              </a:lnSpc>
              <a:spcBef>
                <a:spcPts val="0"/>
              </a:spcBef>
              <a:spcAft>
                <a:spcPts val="0"/>
              </a:spcAft>
              <a:defRPr sz="1900" b="1">
                <a:solidFill>
                  <a:srgbClr val="1967C3"/>
                </a:solidFill>
                <a:latin typeface="Arial"/>
              </a:defRPr>
            </a:pPr>
            <a:r>
              <a:t>Design principle: uncertainty becomes a review task.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02 / WORKFLOW</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From résumé to reviewed application</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Discovery can run on a schedule; sending requires a user's explicit approval.</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03 / 12</a:t>
            </a:r>
          </a:p>
        </p:txBody>
      </p:sp>
      <p:sp>
        <p:nvSpPr>
          <p:cNvPr id="8" name="Rounded Rectangle 7"/>
          <p:cNvSpPr/>
          <p:nvPr/>
        </p:nvSpPr>
        <p:spPr>
          <a:xfrm>
            <a:off x="594360" y="1965960"/>
            <a:ext cx="3520440" cy="13716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112264"/>
            <a:ext cx="548640" cy="310896"/>
          </a:xfrm>
          <a:prstGeom prst="rect">
            <a:avLst/>
          </a:prstGeom>
          <a:noFill/>
        </p:spPr>
        <p:txBody>
          <a:bodyPr wrap="none" lIns="0" rIns="0" tIns="0" bIns="0">
            <a:spAutoFit/>
          </a:bodyPr>
          <a:lstStyle/>
          <a:p>
            <a:pPr>
              <a:lnSpc>
                <a:spcPts val="2074"/>
              </a:lnSpc>
              <a:spcBef>
                <a:spcPts val="0"/>
              </a:spcBef>
              <a:spcAft>
                <a:spcPts val="0"/>
              </a:spcAft>
              <a:defRPr sz="1700" b="1">
                <a:solidFill>
                  <a:srgbClr val="1967C3"/>
                </a:solidFill>
                <a:latin typeface="Arial"/>
              </a:defRPr>
            </a:pPr>
            <a:r>
              <a:t>01</a:t>
            </a:r>
          </a:p>
        </p:txBody>
      </p:sp>
      <p:sp>
        <p:nvSpPr>
          <p:cNvPr id="10" name="TextBox 9"/>
          <p:cNvSpPr txBox="1"/>
          <p:nvPr/>
        </p:nvSpPr>
        <p:spPr>
          <a:xfrm>
            <a:off x="758952" y="2505456"/>
            <a:ext cx="315468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172B46"/>
                </a:solidFill>
                <a:latin typeface="Arial"/>
              </a:defRPr>
            </a:pPr>
            <a:r>
              <a:t>Upload résumé</a:t>
            </a:r>
          </a:p>
        </p:txBody>
      </p:sp>
      <p:sp>
        <p:nvSpPr>
          <p:cNvPr id="11" name="TextBox 10"/>
          <p:cNvSpPr txBox="1"/>
          <p:nvPr/>
        </p:nvSpPr>
        <p:spPr>
          <a:xfrm>
            <a:off x="758952" y="2907791"/>
            <a:ext cx="3154680" cy="393192"/>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Read PDF, DOCX or TXT</a:t>
            </a:r>
          </a:p>
        </p:txBody>
      </p:sp>
      <p:sp>
        <p:nvSpPr>
          <p:cNvPr id="12" name="Rounded Rectangle 11"/>
          <p:cNvSpPr/>
          <p:nvPr/>
        </p:nvSpPr>
        <p:spPr>
          <a:xfrm>
            <a:off x="4343400" y="1965960"/>
            <a:ext cx="3520440" cy="13716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2112264"/>
            <a:ext cx="548640" cy="310896"/>
          </a:xfrm>
          <a:prstGeom prst="rect">
            <a:avLst/>
          </a:prstGeom>
          <a:noFill/>
        </p:spPr>
        <p:txBody>
          <a:bodyPr wrap="none" lIns="0" rIns="0" tIns="0" bIns="0">
            <a:spAutoFit/>
          </a:bodyPr>
          <a:lstStyle/>
          <a:p>
            <a:pPr>
              <a:lnSpc>
                <a:spcPts val="2074"/>
              </a:lnSpc>
              <a:spcBef>
                <a:spcPts val="0"/>
              </a:spcBef>
              <a:spcAft>
                <a:spcPts val="0"/>
              </a:spcAft>
              <a:defRPr sz="1700" b="1">
                <a:solidFill>
                  <a:srgbClr val="1967C3"/>
                </a:solidFill>
                <a:latin typeface="Arial"/>
              </a:defRPr>
            </a:pPr>
            <a:r>
              <a:t>02</a:t>
            </a:r>
          </a:p>
        </p:txBody>
      </p:sp>
      <p:sp>
        <p:nvSpPr>
          <p:cNvPr id="14" name="TextBox 13"/>
          <p:cNvSpPr txBox="1"/>
          <p:nvPr/>
        </p:nvSpPr>
        <p:spPr>
          <a:xfrm>
            <a:off x="4507992" y="2505456"/>
            <a:ext cx="315468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172B46"/>
                </a:solidFill>
                <a:latin typeface="Arial"/>
              </a:defRPr>
            </a:pPr>
            <a:r>
              <a:t>Review profile</a:t>
            </a:r>
          </a:p>
        </p:txBody>
      </p:sp>
      <p:sp>
        <p:nvSpPr>
          <p:cNvPr id="15" name="TextBox 14"/>
          <p:cNvSpPr txBox="1"/>
          <p:nvPr/>
        </p:nvSpPr>
        <p:spPr>
          <a:xfrm>
            <a:off x="4507992" y="2907791"/>
            <a:ext cx="3154680" cy="393192"/>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Confirm facts and preferences</a:t>
            </a:r>
          </a:p>
        </p:txBody>
      </p:sp>
      <p:sp>
        <p:nvSpPr>
          <p:cNvPr id="16" name="Rounded Rectangle 15"/>
          <p:cNvSpPr/>
          <p:nvPr/>
        </p:nvSpPr>
        <p:spPr>
          <a:xfrm>
            <a:off x="8092440" y="1965960"/>
            <a:ext cx="3520440" cy="13716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2112264"/>
            <a:ext cx="548640" cy="310896"/>
          </a:xfrm>
          <a:prstGeom prst="rect">
            <a:avLst/>
          </a:prstGeom>
          <a:noFill/>
        </p:spPr>
        <p:txBody>
          <a:bodyPr wrap="none" lIns="0" rIns="0" tIns="0" bIns="0">
            <a:spAutoFit/>
          </a:bodyPr>
          <a:lstStyle/>
          <a:p>
            <a:pPr>
              <a:lnSpc>
                <a:spcPts val="2074"/>
              </a:lnSpc>
              <a:spcBef>
                <a:spcPts val="0"/>
              </a:spcBef>
              <a:spcAft>
                <a:spcPts val="0"/>
              </a:spcAft>
              <a:defRPr sz="1700" b="1">
                <a:solidFill>
                  <a:srgbClr val="1967C3"/>
                </a:solidFill>
                <a:latin typeface="Arial"/>
              </a:defRPr>
            </a:pPr>
            <a:r>
              <a:t>03</a:t>
            </a:r>
          </a:p>
        </p:txBody>
      </p:sp>
      <p:sp>
        <p:nvSpPr>
          <p:cNvPr id="18" name="TextBox 17"/>
          <p:cNvSpPr txBox="1"/>
          <p:nvPr/>
        </p:nvSpPr>
        <p:spPr>
          <a:xfrm>
            <a:off x="8257031" y="2505456"/>
            <a:ext cx="315468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172B46"/>
                </a:solidFill>
                <a:latin typeface="Arial"/>
              </a:defRPr>
            </a:pPr>
            <a:r>
              <a:t>Create a loop</a:t>
            </a:r>
          </a:p>
        </p:txBody>
      </p:sp>
      <p:sp>
        <p:nvSpPr>
          <p:cNvPr id="19" name="TextBox 18"/>
          <p:cNvSpPr txBox="1"/>
          <p:nvPr/>
        </p:nvSpPr>
        <p:spPr>
          <a:xfrm>
            <a:off x="8257031" y="2907791"/>
            <a:ext cx="3154680" cy="393192"/>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Choose sources, region and limits</a:t>
            </a:r>
          </a:p>
        </p:txBody>
      </p:sp>
      <p:sp>
        <p:nvSpPr>
          <p:cNvPr id="20" name="Rounded Rectangle 19"/>
          <p:cNvSpPr/>
          <p:nvPr/>
        </p:nvSpPr>
        <p:spPr>
          <a:xfrm>
            <a:off x="594360" y="3639312"/>
            <a:ext cx="3520440" cy="13716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785615"/>
            <a:ext cx="548640" cy="310896"/>
          </a:xfrm>
          <a:prstGeom prst="rect">
            <a:avLst/>
          </a:prstGeom>
          <a:noFill/>
        </p:spPr>
        <p:txBody>
          <a:bodyPr wrap="none" lIns="0" rIns="0" tIns="0" bIns="0">
            <a:spAutoFit/>
          </a:bodyPr>
          <a:lstStyle/>
          <a:p>
            <a:pPr>
              <a:lnSpc>
                <a:spcPts val="2074"/>
              </a:lnSpc>
              <a:spcBef>
                <a:spcPts val="0"/>
              </a:spcBef>
              <a:spcAft>
                <a:spcPts val="0"/>
              </a:spcAft>
              <a:defRPr sz="1700" b="1">
                <a:solidFill>
                  <a:srgbClr val="1967C3"/>
                </a:solidFill>
                <a:latin typeface="Arial"/>
              </a:defRPr>
            </a:pPr>
            <a:r>
              <a:t>04</a:t>
            </a:r>
          </a:p>
        </p:txBody>
      </p:sp>
      <p:sp>
        <p:nvSpPr>
          <p:cNvPr id="22" name="TextBox 21"/>
          <p:cNvSpPr txBox="1"/>
          <p:nvPr/>
        </p:nvSpPr>
        <p:spPr>
          <a:xfrm>
            <a:off x="758952" y="4178808"/>
            <a:ext cx="315468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172B46"/>
                </a:solidFill>
                <a:latin typeface="Arial"/>
              </a:defRPr>
            </a:pPr>
            <a:r>
              <a:t>Discover and rank</a:t>
            </a:r>
          </a:p>
        </p:txBody>
      </p:sp>
      <p:sp>
        <p:nvSpPr>
          <p:cNvPr id="23" name="TextBox 22"/>
          <p:cNvSpPr txBox="1"/>
          <p:nvPr/>
        </p:nvSpPr>
        <p:spPr>
          <a:xfrm>
            <a:off x="758952" y="4581144"/>
            <a:ext cx="3154680" cy="393192"/>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Actual listings; explainable scores</a:t>
            </a:r>
          </a:p>
        </p:txBody>
      </p:sp>
      <p:sp>
        <p:nvSpPr>
          <p:cNvPr id="24" name="Rounded Rectangle 23"/>
          <p:cNvSpPr/>
          <p:nvPr/>
        </p:nvSpPr>
        <p:spPr>
          <a:xfrm>
            <a:off x="4343400" y="3639312"/>
            <a:ext cx="3520440" cy="13716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07992" y="3785615"/>
            <a:ext cx="548640" cy="310896"/>
          </a:xfrm>
          <a:prstGeom prst="rect">
            <a:avLst/>
          </a:prstGeom>
          <a:noFill/>
        </p:spPr>
        <p:txBody>
          <a:bodyPr wrap="none" lIns="0" rIns="0" tIns="0" bIns="0">
            <a:spAutoFit/>
          </a:bodyPr>
          <a:lstStyle/>
          <a:p>
            <a:pPr>
              <a:lnSpc>
                <a:spcPts val="2074"/>
              </a:lnSpc>
              <a:spcBef>
                <a:spcPts val="0"/>
              </a:spcBef>
              <a:spcAft>
                <a:spcPts val="0"/>
              </a:spcAft>
              <a:defRPr sz="1700" b="1">
                <a:solidFill>
                  <a:srgbClr val="1967C3"/>
                </a:solidFill>
                <a:latin typeface="Arial"/>
              </a:defRPr>
            </a:pPr>
            <a:r>
              <a:t>05</a:t>
            </a:r>
          </a:p>
        </p:txBody>
      </p:sp>
      <p:sp>
        <p:nvSpPr>
          <p:cNvPr id="26" name="TextBox 25"/>
          <p:cNvSpPr txBox="1"/>
          <p:nvPr/>
        </p:nvSpPr>
        <p:spPr>
          <a:xfrm>
            <a:off x="4507992" y="4178808"/>
            <a:ext cx="315468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172B46"/>
                </a:solidFill>
                <a:latin typeface="Arial"/>
              </a:defRPr>
            </a:pPr>
            <a:r>
              <a:t>Verify and approve</a:t>
            </a:r>
          </a:p>
        </p:txBody>
      </p:sp>
      <p:sp>
        <p:nvSpPr>
          <p:cNvPr id="27" name="TextBox 26"/>
          <p:cNvSpPr txBox="1"/>
          <p:nvPr/>
        </p:nvSpPr>
        <p:spPr>
          <a:xfrm>
            <a:off x="4507992" y="4581144"/>
            <a:ext cx="3154680" cy="393192"/>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Employer contact, eligibility and PDF</a:t>
            </a:r>
          </a:p>
        </p:txBody>
      </p:sp>
      <p:sp>
        <p:nvSpPr>
          <p:cNvPr id="28" name="Rounded Rectangle 27"/>
          <p:cNvSpPr/>
          <p:nvPr/>
        </p:nvSpPr>
        <p:spPr>
          <a:xfrm>
            <a:off x="8092440" y="3639312"/>
            <a:ext cx="3520440" cy="13716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7031" y="3785615"/>
            <a:ext cx="548640" cy="310896"/>
          </a:xfrm>
          <a:prstGeom prst="rect">
            <a:avLst/>
          </a:prstGeom>
          <a:noFill/>
        </p:spPr>
        <p:txBody>
          <a:bodyPr wrap="none" lIns="0" rIns="0" tIns="0" bIns="0">
            <a:spAutoFit/>
          </a:bodyPr>
          <a:lstStyle/>
          <a:p>
            <a:pPr>
              <a:lnSpc>
                <a:spcPts val="2074"/>
              </a:lnSpc>
              <a:spcBef>
                <a:spcPts val="0"/>
              </a:spcBef>
              <a:spcAft>
                <a:spcPts val="0"/>
              </a:spcAft>
              <a:defRPr sz="1700" b="1">
                <a:solidFill>
                  <a:srgbClr val="1967C3"/>
                </a:solidFill>
                <a:latin typeface="Arial"/>
              </a:defRPr>
            </a:pPr>
            <a:r>
              <a:t>06</a:t>
            </a:r>
          </a:p>
        </p:txBody>
      </p:sp>
      <p:sp>
        <p:nvSpPr>
          <p:cNvPr id="30" name="TextBox 29"/>
          <p:cNvSpPr txBox="1"/>
          <p:nvPr/>
        </p:nvSpPr>
        <p:spPr>
          <a:xfrm>
            <a:off x="8257031" y="4178808"/>
            <a:ext cx="315468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172B46"/>
                </a:solidFill>
                <a:latin typeface="Arial"/>
              </a:defRPr>
            </a:pPr>
            <a:r>
              <a:t>Track applications</a:t>
            </a:r>
          </a:p>
        </p:txBody>
      </p:sp>
      <p:sp>
        <p:nvSpPr>
          <p:cNvPr id="31" name="TextBox 30"/>
          <p:cNvSpPr txBox="1"/>
          <p:nvPr/>
        </p:nvSpPr>
        <p:spPr>
          <a:xfrm>
            <a:off x="8257031" y="4581144"/>
            <a:ext cx="3154680" cy="393192"/>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Dispatch state and confirmed updates</a:t>
            </a:r>
          </a:p>
        </p:txBody>
      </p:sp>
      <p:sp>
        <p:nvSpPr>
          <p:cNvPr id="32" name="TextBox 31"/>
          <p:cNvSpPr txBox="1"/>
          <p:nvPr/>
        </p:nvSpPr>
        <p:spPr>
          <a:xfrm>
            <a:off x="685800" y="5742432"/>
            <a:ext cx="10789920" cy="365760"/>
          </a:xfrm>
          <a:prstGeom prst="rect">
            <a:avLst/>
          </a:prstGeom>
          <a:noFill/>
        </p:spPr>
        <p:txBody>
          <a:bodyPr wrap="none" lIns="0" rIns="0" tIns="0" bIns="0">
            <a:spAutoFit/>
          </a:bodyPr>
          <a:lstStyle/>
          <a:p>
            <a:pPr>
              <a:lnSpc>
                <a:spcPts val="1952"/>
              </a:lnSpc>
              <a:spcBef>
                <a:spcPts val="0"/>
              </a:spcBef>
              <a:spcAft>
                <a:spcPts val="0"/>
              </a:spcAft>
              <a:defRPr sz="1600" b="0">
                <a:solidFill>
                  <a:srgbClr val="5C6D82"/>
                </a:solidFill>
                <a:latin typeface="Arial"/>
              </a:defRPr>
            </a:pPr>
            <a:r>
              <a:t>ATS applications currently open the official employer page for manual completion.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03 / ARCHITECTURE</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A private workspace with external integrations</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Python + Streamlit + SQLAlchemy + PostgreSQL + per-user Google OAuth.</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04 / 12</a:t>
            </a:r>
          </a:p>
        </p:txBody>
      </p:sp>
      <p:sp>
        <p:nvSpPr>
          <p:cNvPr id="8" name="Rounded Rectangle 7"/>
          <p:cNvSpPr/>
          <p:nvPr/>
        </p:nvSpPr>
        <p:spPr>
          <a:xfrm>
            <a:off x="594360" y="1956816"/>
            <a:ext cx="3429000" cy="233172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21408"/>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USER</a:t>
            </a:r>
          </a:p>
        </p:txBody>
      </p:sp>
      <p:sp>
        <p:nvSpPr>
          <p:cNvPr id="10" name="TextBox 9"/>
          <p:cNvSpPr txBox="1"/>
          <p:nvPr/>
        </p:nvSpPr>
        <p:spPr>
          <a:xfrm>
            <a:off x="777240" y="2468880"/>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Streamlit interface</a:t>
            </a:r>
          </a:p>
        </p:txBody>
      </p:sp>
      <p:sp>
        <p:nvSpPr>
          <p:cNvPr id="11" name="TextBox 10"/>
          <p:cNvSpPr txBox="1"/>
          <p:nvPr/>
        </p:nvSpPr>
        <p:spPr>
          <a:xfrm>
            <a:off x="777240" y="3227832"/>
            <a:ext cx="3063240" cy="886967"/>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Google sign-in</a:t>
            </a:r>
          </a:p>
          <a:p>
            <a:pPr>
              <a:lnSpc>
                <a:spcPts val="1830"/>
              </a:lnSpc>
              <a:spcBef>
                <a:spcPts val="0"/>
              </a:spcBef>
              <a:spcAft>
                <a:spcPts val="0"/>
              </a:spcAft>
              <a:defRPr sz="1500" b="0">
                <a:solidFill>
                  <a:srgbClr val="5C6D82"/>
                </a:solidFill>
                <a:latin typeface="Arial"/>
              </a:defRPr>
            </a:pPr>
            <a:r>
              <a:t>Résumé and loop screens</a:t>
            </a:r>
          </a:p>
          <a:p>
            <a:pPr>
              <a:lnSpc>
                <a:spcPts val="1830"/>
              </a:lnSpc>
              <a:spcBef>
                <a:spcPts val="0"/>
              </a:spcBef>
              <a:spcAft>
                <a:spcPts val="0"/>
              </a:spcAft>
              <a:defRPr sz="1500" b="0">
                <a:solidFill>
                  <a:srgbClr val="5C6D82"/>
                </a:solidFill>
                <a:latin typeface="Arial"/>
              </a:defRPr>
            </a:pPr>
            <a:r>
              <a:t>Review and tracking</a:t>
            </a:r>
          </a:p>
        </p:txBody>
      </p:sp>
      <p:sp>
        <p:nvSpPr>
          <p:cNvPr id="12" name="Rounded Rectangle 11"/>
          <p:cNvSpPr/>
          <p:nvPr/>
        </p:nvSpPr>
        <p:spPr>
          <a:xfrm>
            <a:off x="4379976" y="1956816"/>
            <a:ext cx="3429000" cy="233172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121408"/>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PYTHON</a:t>
            </a:r>
          </a:p>
        </p:txBody>
      </p:sp>
      <p:sp>
        <p:nvSpPr>
          <p:cNvPr id="14" name="TextBox 13"/>
          <p:cNvSpPr txBox="1"/>
          <p:nvPr/>
        </p:nvSpPr>
        <p:spPr>
          <a:xfrm>
            <a:off x="4562856" y="2468880"/>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Workflow engine</a:t>
            </a:r>
          </a:p>
        </p:txBody>
      </p:sp>
      <p:sp>
        <p:nvSpPr>
          <p:cNvPr id="15" name="TextBox 14"/>
          <p:cNvSpPr txBox="1"/>
          <p:nvPr/>
        </p:nvSpPr>
        <p:spPr>
          <a:xfrm>
            <a:off x="4562856" y="3227832"/>
            <a:ext cx="3063240" cy="886967"/>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Literal extraction and scoring</a:t>
            </a:r>
          </a:p>
          <a:p>
            <a:pPr>
              <a:lnSpc>
                <a:spcPts val="1830"/>
              </a:lnSpc>
              <a:spcBef>
                <a:spcPts val="0"/>
              </a:spcBef>
              <a:spcAft>
                <a:spcPts val="0"/>
              </a:spcAft>
              <a:defRPr sz="1500" b="0">
                <a:solidFill>
                  <a:srgbClr val="5C6D82"/>
                </a:solidFill>
                <a:latin typeface="Arial"/>
              </a:defRPr>
            </a:pPr>
            <a:r>
              <a:t>Verification and exact approval</a:t>
            </a:r>
          </a:p>
          <a:p>
            <a:pPr>
              <a:lnSpc>
                <a:spcPts val="1830"/>
              </a:lnSpc>
              <a:spcBef>
                <a:spcPts val="0"/>
              </a:spcBef>
              <a:spcAft>
                <a:spcPts val="0"/>
              </a:spcAft>
              <a:defRPr sz="1500" b="0">
                <a:solidFill>
                  <a:srgbClr val="5C6D82"/>
                </a:solidFill>
                <a:latin typeface="Arial"/>
              </a:defRPr>
            </a:pPr>
            <a:r>
              <a:t>Quota / duplicate checks</a:t>
            </a:r>
          </a:p>
        </p:txBody>
      </p:sp>
      <p:sp>
        <p:nvSpPr>
          <p:cNvPr id="16" name="Rounded Rectangle 15"/>
          <p:cNvSpPr/>
          <p:nvPr/>
        </p:nvSpPr>
        <p:spPr>
          <a:xfrm>
            <a:off x="8174736" y="1956816"/>
            <a:ext cx="3429000" cy="233172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5" y="2121408"/>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STORAGE</a:t>
            </a:r>
          </a:p>
        </p:txBody>
      </p:sp>
      <p:sp>
        <p:nvSpPr>
          <p:cNvPr id="18" name="TextBox 17"/>
          <p:cNvSpPr txBox="1"/>
          <p:nvPr/>
        </p:nvSpPr>
        <p:spPr>
          <a:xfrm>
            <a:off x="8357615" y="2468880"/>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Private PostgreSQL</a:t>
            </a:r>
          </a:p>
        </p:txBody>
      </p:sp>
      <p:sp>
        <p:nvSpPr>
          <p:cNvPr id="19" name="TextBox 18"/>
          <p:cNvSpPr txBox="1"/>
          <p:nvPr/>
        </p:nvSpPr>
        <p:spPr>
          <a:xfrm>
            <a:off x="8357615" y="3227832"/>
            <a:ext cx="3063240" cy="886967"/>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Tenant-separated records</a:t>
            </a:r>
          </a:p>
          <a:p>
            <a:pPr>
              <a:lnSpc>
                <a:spcPts val="1830"/>
              </a:lnSpc>
              <a:spcBef>
                <a:spcPts val="0"/>
              </a:spcBef>
              <a:spcAft>
                <a:spcPts val="0"/>
              </a:spcAft>
              <a:defRPr sz="1500" b="0">
                <a:solidFill>
                  <a:srgbClr val="5C6D82"/>
                </a:solidFill>
                <a:latin typeface="Arial"/>
              </a:defRPr>
            </a:pPr>
            <a:r>
              <a:t>Original résumé and drafts</a:t>
            </a:r>
          </a:p>
          <a:p>
            <a:pPr>
              <a:lnSpc>
                <a:spcPts val="1830"/>
              </a:lnSpc>
              <a:spcBef>
                <a:spcPts val="0"/>
              </a:spcBef>
              <a:spcAft>
                <a:spcPts val="0"/>
              </a:spcAft>
              <a:defRPr sz="1500" b="0">
                <a:solidFill>
                  <a:srgbClr val="5C6D82"/>
                </a:solidFill>
                <a:latin typeface="Arial"/>
              </a:defRPr>
            </a:pPr>
            <a:r>
              <a:t>Encrypted Gmail connection</a:t>
            </a:r>
          </a:p>
        </p:txBody>
      </p:sp>
      <p:cxnSp>
        <p:nvCxnSpPr>
          <p:cNvPr id="20" name="Connector 19"/>
          <p:cNvCxnSpPr/>
          <p:nvPr/>
        </p:nvCxnSpPr>
        <p:spPr>
          <a:xfrm>
            <a:off x="4023360" y="2926080"/>
            <a:ext cx="329184" cy="0"/>
          </a:xfrm>
          <a:prstGeom prst="line">
            <a:avLst/>
          </a:prstGeom>
          <a:ln w="22860">
            <a:solidFill>
              <a:srgbClr val="1967C3"/>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08975" y="2926080"/>
            <a:ext cx="338329" cy="0"/>
          </a:xfrm>
          <a:prstGeom prst="line">
            <a:avLst/>
          </a:prstGeom>
          <a:ln w="22860">
            <a:solidFill>
              <a:srgbClr val="1967C3"/>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94360" y="4434840"/>
            <a:ext cx="11009376" cy="1115568"/>
          </a:xfrm>
          <a:prstGeom prst="roundRect">
            <a:avLst>
              <a:gd name="adj" fmla="val 8000"/>
            </a:avLst>
          </a:prstGeom>
          <a:solidFill>
            <a:srgbClr val="13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636008"/>
            <a:ext cx="10424160" cy="301752"/>
          </a:xfrm>
          <a:prstGeom prst="rect">
            <a:avLst/>
          </a:prstGeom>
          <a:noFill/>
        </p:spPr>
        <p:txBody>
          <a:bodyPr wrap="none" lIns="0" rIns="0" tIns="0" bIns="0">
            <a:spAutoFit/>
          </a:bodyPr>
          <a:lstStyle/>
          <a:p>
            <a:pPr>
              <a:lnSpc>
                <a:spcPts val="2074"/>
              </a:lnSpc>
              <a:spcBef>
                <a:spcPts val="0"/>
              </a:spcBef>
              <a:spcAft>
                <a:spcPts val="0"/>
              </a:spcAft>
              <a:defRPr sz="1700" b="0">
                <a:solidFill>
                  <a:srgbClr val="FFFFFF"/>
                </a:solidFill>
                <a:latin typeface="Arial"/>
              </a:defRPr>
            </a:pPr>
            <a:r>
              <a:t>Public feeds: Himalayas / Remotive / Greenhouse / Lever</a:t>
            </a:r>
          </a:p>
        </p:txBody>
      </p:sp>
      <p:sp>
        <p:nvSpPr>
          <p:cNvPr id="24" name="TextBox 23"/>
          <p:cNvSpPr txBox="1"/>
          <p:nvPr/>
        </p:nvSpPr>
        <p:spPr>
          <a:xfrm>
            <a:off x="841248" y="5056632"/>
            <a:ext cx="10424160" cy="292608"/>
          </a:xfrm>
          <a:prstGeom prst="rect">
            <a:avLst/>
          </a:prstGeom>
          <a:noFill/>
        </p:spPr>
        <p:txBody>
          <a:bodyPr wrap="none" lIns="0" rIns="0" tIns="0" bIns="0">
            <a:spAutoFit/>
          </a:bodyPr>
          <a:lstStyle/>
          <a:p>
            <a:pPr>
              <a:lnSpc>
                <a:spcPts val="1830"/>
              </a:lnSpc>
              <a:spcBef>
                <a:spcPts val="0"/>
              </a:spcBef>
              <a:spcAft>
                <a:spcPts val="0"/>
              </a:spcAft>
              <a:defRPr sz="1500" b="0">
                <a:solidFill>
                  <a:srgbClr val="D6E5FA"/>
                </a:solidFill>
                <a:latin typeface="Arial"/>
              </a:defRPr>
            </a:pPr>
            <a:r>
              <a:t>External scheduler: discovery only | Gmail API: individually approved emails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04 / MATCHING METHOD</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Explainable keyword matching</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A transparent scoring baseline. No trained language model or LLM API is required.</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05 / 12</a:t>
            </a:r>
          </a:p>
        </p:txBody>
      </p:sp>
      <p:sp>
        <p:nvSpPr>
          <p:cNvPr id="8" name="Rounded Rectangle 7"/>
          <p:cNvSpPr/>
          <p:nvPr/>
        </p:nvSpPr>
        <p:spPr>
          <a:xfrm>
            <a:off x="594360" y="1984248"/>
            <a:ext cx="3429000" cy="2487168"/>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94560"/>
            <a:ext cx="2926080" cy="768096"/>
          </a:xfrm>
          <a:prstGeom prst="rect">
            <a:avLst/>
          </a:prstGeom>
          <a:noFill/>
        </p:spPr>
        <p:txBody>
          <a:bodyPr wrap="none" lIns="0" rIns="0" tIns="0" bIns="0">
            <a:spAutoFit/>
          </a:bodyPr>
          <a:lstStyle/>
          <a:p>
            <a:pPr>
              <a:lnSpc>
                <a:spcPts val="4880"/>
              </a:lnSpc>
              <a:spcBef>
                <a:spcPts val="0"/>
              </a:spcBef>
              <a:spcAft>
                <a:spcPts val="0"/>
              </a:spcAft>
              <a:defRPr sz="4000" b="1">
                <a:solidFill>
                  <a:srgbClr val="1967C3"/>
                </a:solidFill>
                <a:latin typeface="Arial"/>
              </a:defRPr>
            </a:pPr>
            <a:r>
              <a:t>50%</a:t>
            </a:r>
          </a:p>
        </p:txBody>
      </p:sp>
      <p:sp>
        <p:nvSpPr>
          <p:cNvPr id="10" name="TextBox 9"/>
          <p:cNvSpPr txBox="1"/>
          <p:nvPr/>
        </p:nvSpPr>
        <p:spPr>
          <a:xfrm>
            <a:off x="804672" y="3081528"/>
            <a:ext cx="2926080" cy="393192"/>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Skill overlap</a:t>
            </a:r>
          </a:p>
        </p:txBody>
      </p:sp>
      <p:sp>
        <p:nvSpPr>
          <p:cNvPr id="11" name="TextBox 10"/>
          <p:cNvSpPr txBox="1"/>
          <p:nvPr/>
        </p:nvSpPr>
        <p:spPr>
          <a:xfrm>
            <a:off x="804672" y="3657600"/>
            <a:ext cx="29260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Compare recognized skills in the</a:t>
            </a:r>
          </a:p>
          <a:p>
            <a:pPr>
              <a:lnSpc>
                <a:spcPts val="1830"/>
              </a:lnSpc>
              <a:spcBef>
                <a:spcPts val="0"/>
              </a:spcBef>
              <a:spcAft>
                <a:spcPts val="0"/>
              </a:spcAft>
              <a:defRPr sz="1500" b="0">
                <a:solidFill>
                  <a:srgbClr val="5C6D82"/>
                </a:solidFill>
                <a:latin typeface="Arial"/>
              </a:defRPr>
            </a:pPr>
            <a:r>
              <a:t>résumé and job text.</a:t>
            </a:r>
          </a:p>
        </p:txBody>
      </p:sp>
      <p:sp>
        <p:nvSpPr>
          <p:cNvPr id="12" name="Rounded Rectangle 11"/>
          <p:cNvSpPr/>
          <p:nvPr/>
        </p:nvSpPr>
        <p:spPr>
          <a:xfrm>
            <a:off x="4379976" y="1984248"/>
            <a:ext cx="3429000" cy="2487168"/>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194560"/>
            <a:ext cx="2926080" cy="768096"/>
          </a:xfrm>
          <a:prstGeom prst="rect">
            <a:avLst/>
          </a:prstGeom>
          <a:noFill/>
        </p:spPr>
        <p:txBody>
          <a:bodyPr wrap="none" lIns="0" rIns="0" tIns="0" bIns="0">
            <a:spAutoFit/>
          </a:bodyPr>
          <a:lstStyle/>
          <a:p>
            <a:pPr>
              <a:lnSpc>
                <a:spcPts val="4880"/>
              </a:lnSpc>
              <a:spcBef>
                <a:spcPts val="0"/>
              </a:spcBef>
              <a:spcAft>
                <a:spcPts val="0"/>
              </a:spcAft>
              <a:defRPr sz="4000" b="1">
                <a:solidFill>
                  <a:srgbClr val="1967C3"/>
                </a:solidFill>
                <a:latin typeface="Arial"/>
              </a:defRPr>
            </a:pPr>
            <a:r>
              <a:t>32%</a:t>
            </a:r>
          </a:p>
        </p:txBody>
      </p:sp>
      <p:sp>
        <p:nvSpPr>
          <p:cNvPr id="14" name="TextBox 13"/>
          <p:cNvSpPr txBox="1"/>
          <p:nvPr/>
        </p:nvSpPr>
        <p:spPr>
          <a:xfrm>
            <a:off x="4590288" y="3081528"/>
            <a:ext cx="2926080" cy="393192"/>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Keyword overlap</a:t>
            </a:r>
          </a:p>
        </p:txBody>
      </p:sp>
      <p:sp>
        <p:nvSpPr>
          <p:cNvPr id="15" name="TextBox 14"/>
          <p:cNvSpPr txBox="1"/>
          <p:nvPr/>
        </p:nvSpPr>
        <p:spPr>
          <a:xfrm>
            <a:off x="4590288" y="3657600"/>
            <a:ext cx="29260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Compare normalized job and</a:t>
            </a:r>
          </a:p>
          <a:p>
            <a:pPr>
              <a:lnSpc>
                <a:spcPts val="1830"/>
              </a:lnSpc>
              <a:spcBef>
                <a:spcPts val="0"/>
              </a:spcBef>
              <a:spcAft>
                <a:spcPts val="0"/>
              </a:spcAft>
              <a:defRPr sz="1500" b="0">
                <a:solidFill>
                  <a:srgbClr val="5C6D82"/>
                </a:solidFill>
                <a:latin typeface="Arial"/>
              </a:defRPr>
            </a:pPr>
            <a:r>
              <a:t>résumé words.</a:t>
            </a:r>
          </a:p>
        </p:txBody>
      </p:sp>
      <p:sp>
        <p:nvSpPr>
          <p:cNvPr id="16" name="Rounded Rectangle 15"/>
          <p:cNvSpPr/>
          <p:nvPr/>
        </p:nvSpPr>
        <p:spPr>
          <a:xfrm>
            <a:off x="8174736" y="1984248"/>
            <a:ext cx="3429000" cy="2487168"/>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2194560"/>
            <a:ext cx="2926080" cy="768096"/>
          </a:xfrm>
          <a:prstGeom prst="rect">
            <a:avLst/>
          </a:prstGeom>
          <a:noFill/>
        </p:spPr>
        <p:txBody>
          <a:bodyPr wrap="none" lIns="0" rIns="0" tIns="0" bIns="0">
            <a:spAutoFit/>
          </a:bodyPr>
          <a:lstStyle/>
          <a:p>
            <a:pPr>
              <a:lnSpc>
                <a:spcPts val="4880"/>
              </a:lnSpc>
              <a:spcBef>
                <a:spcPts val="0"/>
              </a:spcBef>
              <a:spcAft>
                <a:spcPts val="0"/>
              </a:spcAft>
              <a:defRPr sz="4000" b="1">
                <a:solidFill>
                  <a:srgbClr val="1967C3"/>
                </a:solidFill>
                <a:latin typeface="Arial"/>
              </a:defRPr>
            </a:pPr>
            <a:r>
              <a:t>18%</a:t>
            </a:r>
          </a:p>
        </p:txBody>
      </p:sp>
      <p:sp>
        <p:nvSpPr>
          <p:cNvPr id="18" name="TextBox 17"/>
          <p:cNvSpPr txBox="1"/>
          <p:nvPr/>
        </p:nvSpPr>
        <p:spPr>
          <a:xfrm>
            <a:off x="8385048" y="3081528"/>
            <a:ext cx="2926080" cy="393192"/>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Title overlap</a:t>
            </a:r>
          </a:p>
        </p:txBody>
      </p:sp>
      <p:sp>
        <p:nvSpPr>
          <p:cNvPr id="19" name="TextBox 18"/>
          <p:cNvSpPr txBox="1"/>
          <p:nvPr/>
        </p:nvSpPr>
        <p:spPr>
          <a:xfrm>
            <a:off x="8385048" y="3657600"/>
            <a:ext cx="29260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Compare the role title against</a:t>
            </a:r>
          </a:p>
          <a:p>
            <a:pPr>
              <a:lnSpc>
                <a:spcPts val="1830"/>
              </a:lnSpc>
              <a:spcBef>
                <a:spcPts val="0"/>
              </a:spcBef>
              <a:spcAft>
                <a:spcPts val="0"/>
              </a:spcAft>
              <a:defRPr sz="1500" b="0">
                <a:solidFill>
                  <a:srgbClr val="5C6D82"/>
                </a:solidFill>
                <a:latin typeface="Arial"/>
              </a:defRPr>
            </a:pPr>
            <a:r>
              <a:t>résumé terms.</a:t>
            </a:r>
          </a:p>
        </p:txBody>
      </p:sp>
      <p:sp>
        <p:nvSpPr>
          <p:cNvPr id="20" name="TextBox 19"/>
          <p:cNvSpPr txBox="1"/>
          <p:nvPr/>
        </p:nvSpPr>
        <p:spPr>
          <a:xfrm>
            <a:off x="658368" y="4892040"/>
            <a:ext cx="10881360" cy="594360"/>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Output: matched skills, missing skills, shared keywords and a similarity score.</a:t>
            </a:r>
          </a:p>
        </p:txBody>
      </p:sp>
      <p:sp>
        <p:nvSpPr>
          <p:cNvPr id="21" name="TextBox 20"/>
          <p:cNvSpPr txBox="1"/>
          <p:nvPr/>
        </p:nvSpPr>
        <p:spPr>
          <a:xfrm>
            <a:off x="658368" y="5705856"/>
            <a:ext cx="10881360" cy="384048"/>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Eligibility, work authorization and mandatory requirements still need human verification.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05 / APPLICATION INTERFACE</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LoopingCV dashboard</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The actual local interface: a four-step search-loop wizard and private navigation.</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06 / 12</a:t>
            </a:r>
          </a:p>
        </p:txBody>
      </p:sp>
      <p:sp>
        <p:nvSpPr>
          <p:cNvPr id="8" name="Rounded Rectangle 7"/>
          <p:cNvSpPr/>
          <p:nvPr/>
        </p:nvSpPr>
        <p:spPr>
          <a:xfrm>
            <a:off x="594360" y="1892807"/>
            <a:ext cx="7543800" cy="4215384"/>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ng"/>
          <p:cNvPicPr>
            <a:picLocks noChangeAspect="1"/>
          </p:cNvPicPr>
          <p:nvPr/>
        </p:nvPicPr>
        <p:blipFill>
          <a:blip r:embed="rId3"/>
          <a:stretch>
            <a:fillRect/>
          </a:stretch>
        </p:blipFill>
        <p:spPr>
          <a:xfrm>
            <a:off x="1512980" y="1938528"/>
            <a:ext cx="5697415" cy="4114800"/>
          </a:xfrm>
          <a:prstGeom prst="rect">
            <a:avLst/>
          </a:prstGeom>
        </p:spPr>
      </p:pic>
      <p:sp>
        <p:nvSpPr>
          <p:cNvPr id="10" name="TextBox 9"/>
          <p:cNvSpPr txBox="1"/>
          <p:nvPr/>
        </p:nvSpPr>
        <p:spPr>
          <a:xfrm>
            <a:off x="8394192" y="2148840"/>
            <a:ext cx="3154680" cy="438912"/>
          </a:xfrm>
          <a:prstGeom prst="rect">
            <a:avLst/>
          </a:prstGeom>
          <a:noFill/>
        </p:spPr>
        <p:txBody>
          <a:bodyPr wrap="none" lIns="0" rIns="0" tIns="0" bIns="0">
            <a:spAutoFit/>
          </a:bodyPr>
          <a:lstStyle/>
          <a:p>
            <a:pPr>
              <a:lnSpc>
                <a:spcPts val="2684"/>
              </a:lnSpc>
              <a:spcBef>
                <a:spcPts val="0"/>
              </a:spcBef>
              <a:spcAft>
                <a:spcPts val="0"/>
              </a:spcAft>
              <a:defRPr sz="2200" b="1">
                <a:solidFill>
                  <a:srgbClr val="172B46"/>
                </a:solidFill>
                <a:latin typeface="Arial"/>
              </a:defRPr>
            </a:pPr>
            <a:r>
              <a:t>One place to work</a:t>
            </a:r>
          </a:p>
        </p:txBody>
      </p:sp>
      <p:sp>
        <p:nvSpPr>
          <p:cNvPr id="11" name="TextBox 10"/>
          <p:cNvSpPr txBox="1"/>
          <p:nvPr/>
        </p:nvSpPr>
        <p:spPr>
          <a:xfrm>
            <a:off x="8394192" y="2862072"/>
            <a:ext cx="3154680" cy="2587752"/>
          </a:xfrm>
          <a:prstGeom prst="rect">
            <a:avLst/>
          </a:prstGeom>
          <a:noFill/>
        </p:spPr>
        <p:txBody>
          <a:bodyPr wrap="none" lIns="0" rIns="0" tIns="0" bIns="0">
            <a:spAutoFit/>
          </a:bodyPr>
          <a:lstStyle/>
          <a:p>
            <a:pPr>
              <a:lnSpc>
                <a:spcPts val="2318"/>
              </a:lnSpc>
              <a:spcBef>
                <a:spcPts val="0"/>
              </a:spcBef>
              <a:spcAft>
                <a:spcPts val="0"/>
              </a:spcAft>
              <a:defRPr sz="1900" b="0">
                <a:solidFill>
                  <a:srgbClr val="5C6D82"/>
                </a:solidFill>
                <a:latin typeface="Arial"/>
              </a:defRPr>
            </a:pPr>
            <a:r>
              <a:t>CV Checker</a:t>
            </a:r>
          </a:p>
          <a:p>
            <a:pPr>
              <a:lnSpc>
                <a:spcPts val="2318"/>
              </a:lnSpc>
              <a:spcBef>
                <a:spcPts val="0"/>
              </a:spcBef>
              <a:spcAft>
                <a:spcPts val="0"/>
              </a:spcAft>
              <a:defRPr sz="1900" b="0">
                <a:solidFill>
                  <a:srgbClr val="5C6D82"/>
                </a:solidFill>
                <a:latin typeface="Arial"/>
              </a:defRPr>
            </a:pPr>
            <a:r>
              <a:t>New Loop</a:t>
            </a:r>
          </a:p>
          <a:p>
            <a:pPr>
              <a:lnSpc>
                <a:spcPts val="2318"/>
              </a:lnSpc>
              <a:spcBef>
                <a:spcPts val="0"/>
              </a:spcBef>
              <a:spcAft>
                <a:spcPts val="0"/>
              </a:spcAft>
              <a:defRPr sz="1900" b="0">
                <a:solidFill>
                  <a:srgbClr val="5C6D82"/>
                </a:solidFill>
                <a:latin typeface="Arial"/>
              </a:defRPr>
            </a:pPr>
            <a:r>
              <a:t>Search Jobs / All Matches</a:t>
            </a:r>
          </a:p>
          <a:p>
            <a:pPr>
              <a:lnSpc>
                <a:spcPts val="2318"/>
              </a:lnSpc>
              <a:spcBef>
                <a:spcPts val="0"/>
              </a:spcBef>
              <a:spcAft>
                <a:spcPts val="0"/>
              </a:spcAft>
              <a:defRPr sz="1900" b="0">
                <a:solidFill>
                  <a:srgbClr val="5C6D82"/>
                </a:solidFill>
                <a:latin typeface="Arial"/>
              </a:defRPr>
            </a:pPr>
            <a:r>
              <a:t>My Applications</a:t>
            </a:r>
          </a:p>
          <a:p>
            <a:pPr>
              <a:lnSpc>
                <a:spcPts val="2318"/>
              </a:lnSpc>
              <a:spcBef>
                <a:spcPts val="0"/>
              </a:spcBef>
              <a:spcAft>
                <a:spcPts val="0"/>
              </a:spcAft>
              <a:defRPr sz="1900" b="0">
                <a:solidFill>
                  <a:srgbClr val="5C6D82"/>
                </a:solidFill>
                <a:latin typeface="Arial"/>
              </a:defRPr>
            </a:pPr>
            <a:r>
              <a:t>Board and CSV export</a:t>
            </a:r>
          </a:p>
          <a:p>
            <a:pPr>
              <a:lnSpc>
                <a:spcPts val="2318"/>
              </a:lnSpc>
              <a:spcBef>
                <a:spcPts val="0"/>
              </a:spcBef>
              <a:spcAft>
                <a:spcPts val="0"/>
              </a:spcAft>
              <a:defRPr sz="1900" b="0">
                <a:solidFill>
                  <a:srgbClr val="5C6D82"/>
                </a:solidFill>
                <a:latin typeface="Arial"/>
              </a:defRPr>
            </a:pPr>
            <a:r>
              <a:t>Share app</a:t>
            </a:r>
          </a:p>
        </p:txBody>
      </p:sp>
      <p:sp>
        <p:nvSpPr>
          <p:cNvPr id="12" name="TextBox 11"/>
          <p:cNvSpPr txBox="1"/>
          <p:nvPr/>
        </p:nvSpPr>
        <p:spPr>
          <a:xfrm>
            <a:off x="8394192" y="5733288"/>
            <a:ext cx="3154680" cy="310896"/>
          </a:xfrm>
          <a:prstGeom prst="rect">
            <a:avLst/>
          </a:prstGeom>
          <a:noFill/>
        </p:spPr>
        <p:txBody>
          <a:bodyPr wrap="none" lIns="0" rIns="0" tIns="0" bIns="0">
            <a:spAutoFit/>
          </a:bodyPr>
          <a:lstStyle/>
          <a:p>
            <a:pPr>
              <a:lnSpc>
                <a:spcPts val="1464"/>
              </a:lnSpc>
              <a:spcBef>
                <a:spcPts val="0"/>
              </a:spcBef>
              <a:spcAft>
                <a:spcPts val="0"/>
              </a:spcAft>
              <a:defRPr sz="1200" b="0">
                <a:solidFill>
                  <a:srgbClr val="1967C3"/>
                </a:solidFill>
                <a:latin typeface="Arial"/>
              </a:defRPr>
            </a:pPr>
            <a:r>
              <a:t>Screenshot: local preview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06 / RELIABILITY</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Safeguards around each outgoing email</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Approval is checked against the recipient, subject, message and original PDF.</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07 / 12</a:t>
            </a:r>
          </a:p>
        </p:txBody>
      </p:sp>
      <p:sp>
        <p:nvSpPr>
          <p:cNvPr id="8" name="Rounded Rectangle 7"/>
          <p:cNvSpPr/>
          <p:nvPr/>
        </p:nvSpPr>
        <p:spPr>
          <a:xfrm>
            <a:off x="594360" y="1956816"/>
            <a:ext cx="3520440" cy="1682496"/>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39696"/>
            <a:ext cx="3154680" cy="530352"/>
          </a:xfrm>
          <a:prstGeom prst="rect">
            <a:avLst/>
          </a:prstGeom>
          <a:noFill/>
        </p:spPr>
        <p:txBody>
          <a:bodyPr wrap="none" lIns="0" rIns="0" tIns="0" bIns="0">
            <a:spAutoFit/>
          </a:bodyPr>
          <a:lstStyle/>
          <a:p>
            <a:pPr>
              <a:lnSpc>
                <a:spcPts val="2318"/>
              </a:lnSpc>
              <a:spcBef>
                <a:spcPts val="0"/>
              </a:spcBef>
              <a:spcAft>
                <a:spcPts val="0"/>
              </a:spcAft>
              <a:defRPr sz="1900" b="1">
                <a:solidFill>
                  <a:srgbClr val="172B46"/>
                </a:solidFill>
                <a:latin typeface="Arial"/>
              </a:defRPr>
            </a:pPr>
            <a:r>
              <a:t>Exact approval</a:t>
            </a:r>
          </a:p>
        </p:txBody>
      </p:sp>
      <p:sp>
        <p:nvSpPr>
          <p:cNvPr id="10" name="TextBox 9"/>
          <p:cNvSpPr txBox="1"/>
          <p:nvPr/>
        </p:nvSpPr>
        <p:spPr>
          <a:xfrm>
            <a:off x="777240" y="2843784"/>
            <a:ext cx="31546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A message/PDF fingerprint must</a:t>
            </a:r>
          </a:p>
          <a:p>
            <a:pPr>
              <a:lnSpc>
                <a:spcPts val="1830"/>
              </a:lnSpc>
              <a:spcBef>
                <a:spcPts val="0"/>
              </a:spcBef>
              <a:spcAft>
                <a:spcPts val="0"/>
              </a:spcAft>
              <a:defRPr sz="1500" b="0">
                <a:solidFill>
                  <a:srgbClr val="5C6D82"/>
                </a:solidFill>
                <a:latin typeface="Arial"/>
              </a:defRPr>
            </a:pPr>
            <a:r>
              <a:t>match the saved draft.</a:t>
            </a:r>
          </a:p>
        </p:txBody>
      </p:sp>
      <p:sp>
        <p:nvSpPr>
          <p:cNvPr id="11" name="Rounded Rectangle 10"/>
          <p:cNvSpPr/>
          <p:nvPr/>
        </p:nvSpPr>
        <p:spPr>
          <a:xfrm>
            <a:off x="4343400" y="1956816"/>
            <a:ext cx="3520440" cy="1682496"/>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139696"/>
            <a:ext cx="3154680" cy="530352"/>
          </a:xfrm>
          <a:prstGeom prst="rect">
            <a:avLst/>
          </a:prstGeom>
          <a:noFill/>
        </p:spPr>
        <p:txBody>
          <a:bodyPr wrap="none" lIns="0" rIns="0" tIns="0" bIns="0">
            <a:spAutoFit/>
          </a:bodyPr>
          <a:lstStyle/>
          <a:p>
            <a:pPr>
              <a:lnSpc>
                <a:spcPts val="2318"/>
              </a:lnSpc>
              <a:spcBef>
                <a:spcPts val="0"/>
              </a:spcBef>
              <a:spcAft>
                <a:spcPts val="0"/>
              </a:spcAft>
              <a:defRPr sz="1900" b="1">
                <a:solidFill>
                  <a:srgbClr val="172B46"/>
                </a:solidFill>
                <a:latin typeface="Arial"/>
              </a:defRPr>
            </a:pPr>
            <a:r>
              <a:t>Private accounts</a:t>
            </a:r>
          </a:p>
        </p:txBody>
      </p:sp>
      <p:sp>
        <p:nvSpPr>
          <p:cNvPr id="13" name="TextBox 12"/>
          <p:cNvSpPr txBox="1"/>
          <p:nvPr/>
        </p:nvSpPr>
        <p:spPr>
          <a:xfrm>
            <a:off x="4526280" y="2843784"/>
            <a:ext cx="31546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Records and Gmail credentials are</a:t>
            </a:r>
          </a:p>
          <a:p>
            <a:pPr>
              <a:lnSpc>
                <a:spcPts val="1830"/>
              </a:lnSpc>
              <a:spcBef>
                <a:spcPts val="0"/>
              </a:spcBef>
              <a:spcAft>
                <a:spcPts val="0"/>
              </a:spcAft>
              <a:defRPr sz="1500" b="0">
                <a:solidFill>
                  <a:srgbClr val="5C6D82"/>
                </a:solidFill>
                <a:latin typeface="Arial"/>
              </a:defRPr>
            </a:pPr>
            <a:r>
              <a:t>scoped to each user.</a:t>
            </a:r>
          </a:p>
        </p:txBody>
      </p:sp>
      <p:sp>
        <p:nvSpPr>
          <p:cNvPr id="14" name="Rounded Rectangle 13"/>
          <p:cNvSpPr/>
          <p:nvPr/>
        </p:nvSpPr>
        <p:spPr>
          <a:xfrm>
            <a:off x="8092440" y="1956816"/>
            <a:ext cx="3520440" cy="1682496"/>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2139696"/>
            <a:ext cx="3154680" cy="530352"/>
          </a:xfrm>
          <a:prstGeom prst="rect">
            <a:avLst/>
          </a:prstGeom>
          <a:noFill/>
        </p:spPr>
        <p:txBody>
          <a:bodyPr wrap="none" lIns="0" rIns="0" tIns="0" bIns="0">
            <a:spAutoFit/>
          </a:bodyPr>
          <a:lstStyle/>
          <a:p>
            <a:pPr>
              <a:lnSpc>
                <a:spcPts val="2318"/>
              </a:lnSpc>
              <a:spcBef>
                <a:spcPts val="0"/>
              </a:spcBef>
              <a:spcAft>
                <a:spcPts val="0"/>
              </a:spcAft>
              <a:defRPr sz="1900" b="1">
                <a:solidFill>
                  <a:srgbClr val="172B46"/>
                </a:solidFill>
                <a:latin typeface="Arial"/>
              </a:defRPr>
            </a:pPr>
            <a:r>
              <a:t>Daily attempt limits</a:t>
            </a:r>
          </a:p>
        </p:txBody>
      </p:sp>
      <p:sp>
        <p:nvSpPr>
          <p:cNvPr id="16" name="TextBox 15"/>
          <p:cNvSpPr txBox="1"/>
          <p:nvPr/>
        </p:nvSpPr>
        <p:spPr>
          <a:xfrm>
            <a:off x="8275319" y="2843784"/>
            <a:ext cx="31546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Database locks protect per-user</a:t>
            </a:r>
          </a:p>
          <a:p>
            <a:pPr>
              <a:lnSpc>
                <a:spcPts val="1830"/>
              </a:lnSpc>
              <a:spcBef>
                <a:spcPts val="0"/>
              </a:spcBef>
              <a:spcAft>
                <a:spcPts val="0"/>
              </a:spcAft>
              <a:defRPr sz="1500" b="0">
                <a:solidFill>
                  <a:srgbClr val="5C6D82"/>
                </a:solidFill>
                <a:latin typeface="Arial"/>
              </a:defRPr>
            </a:pPr>
            <a:r>
              <a:t>quota reservations.</a:t>
            </a:r>
          </a:p>
        </p:txBody>
      </p:sp>
      <p:sp>
        <p:nvSpPr>
          <p:cNvPr id="17" name="Rounded Rectangle 16"/>
          <p:cNvSpPr/>
          <p:nvPr/>
        </p:nvSpPr>
        <p:spPr>
          <a:xfrm>
            <a:off x="594360" y="3840480"/>
            <a:ext cx="3520440" cy="1682496"/>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23360"/>
            <a:ext cx="3154680" cy="530352"/>
          </a:xfrm>
          <a:prstGeom prst="rect">
            <a:avLst/>
          </a:prstGeom>
          <a:noFill/>
        </p:spPr>
        <p:txBody>
          <a:bodyPr wrap="none" lIns="0" rIns="0" tIns="0" bIns="0">
            <a:spAutoFit/>
          </a:bodyPr>
          <a:lstStyle/>
          <a:p>
            <a:pPr>
              <a:lnSpc>
                <a:spcPts val="2318"/>
              </a:lnSpc>
              <a:spcBef>
                <a:spcPts val="0"/>
              </a:spcBef>
              <a:spcAft>
                <a:spcPts val="0"/>
              </a:spcAft>
              <a:defRPr sz="1900" b="1">
                <a:solidFill>
                  <a:srgbClr val="172B46"/>
                </a:solidFill>
                <a:latin typeface="Arial"/>
              </a:defRPr>
            </a:pPr>
            <a:r>
              <a:t>Duplicate protection</a:t>
            </a:r>
          </a:p>
        </p:txBody>
      </p:sp>
      <p:sp>
        <p:nvSpPr>
          <p:cNvPr id="19" name="TextBox 18"/>
          <p:cNvSpPr txBox="1"/>
          <p:nvPr/>
        </p:nvSpPr>
        <p:spPr>
          <a:xfrm>
            <a:off x="777240" y="4727448"/>
            <a:ext cx="31546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An already-attempted application</a:t>
            </a:r>
          </a:p>
          <a:p>
            <a:pPr>
              <a:lnSpc>
                <a:spcPts val="1830"/>
              </a:lnSpc>
              <a:spcBef>
                <a:spcPts val="0"/>
              </a:spcBef>
              <a:spcAft>
                <a:spcPts val="0"/>
              </a:spcAft>
              <a:defRPr sz="1500" b="0">
                <a:solidFill>
                  <a:srgbClr val="5C6D82"/>
                </a:solidFill>
                <a:latin typeface="Arial"/>
              </a:defRPr>
            </a:pPr>
            <a:r>
              <a:t>cannot be resent.</a:t>
            </a:r>
          </a:p>
        </p:txBody>
      </p:sp>
      <p:sp>
        <p:nvSpPr>
          <p:cNvPr id="20" name="Rounded Rectangle 19"/>
          <p:cNvSpPr/>
          <p:nvPr/>
        </p:nvSpPr>
        <p:spPr>
          <a:xfrm>
            <a:off x="4343400" y="3840480"/>
            <a:ext cx="3520440" cy="1682496"/>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4023360"/>
            <a:ext cx="3154680" cy="530352"/>
          </a:xfrm>
          <a:prstGeom prst="rect">
            <a:avLst/>
          </a:prstGeom>
          <a:noFill/>
        </p:spPr>
        <p:txBody>
          <a:bodyPr wrap="none" lIns="0" rIns="0" tIns="0" bIns="0">
            <a:spAutoFit/>
          </a:bodyPr>
          <a:lstStyle/>
          <a:p>
            <a:pPr>
              <a:lnSpc>
                <a:spcPts val="2318"/>
              </a:lnSpc>
              <a:spcBef>
                <a:spcPts val="0"/>
              </a:spcBef>
              <a:spcAft>
                <a:spcPts val="0"/>
              </a:spcAft>
              <a:defRPr sz="1900" b="1">
                <a:solidFill>
                  <a:srgbClr val="172B46"/>
                </a:solidFill>
                <a:latin typeface="Arial"/>
              </a:defRPr>
            </a:pPr>
            <a:r>
              <a:t>Uncertain delivery</a:t>
            </a:r>
          </a:p>
        </p:txBody>
      </p:sp>
      <p:sp>
        <p:nvSpPr>
          <p:cNvPr id="22" name="TextBox 21"/>
          <p:cNvSpPr txBox="1"/>
          <p:nvPr/>
        </p:nvSpPr>
        <p:spPr>
          <a:xfrm>
            <a:off x="4526280" y="4727448"/>
            <a:ext cx="31546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Timeouts require reconciliation in</a:t>
            </a:r>
          </a:p>
          <a:p>
            <a:pPr>
              <a:lnSpc>
                <a:spcPts val="1830"/>
              </a:lnSpc>
              <a:spcBef>
                <a:spcPts val="0"/>
              </a:spcBef>
              <a:spcAft>
                <a:spcPts val="0"/>
              </a:spcAft>
              <a:defRPr sz="1500" b="0">
                <a:solidFill>
                  <a:srgbClr val="5C6D82"/>
                </a:solidFill>
                <a:latin typeface="Arial"/>
              </a:defRPr>
            </a:pPr>
            <a:r>
              <a:t>Gmail Sent.</a:t>
            </a:r>
          </a:p>
        </p:txBody>
      </p:sp>
      <p:sp>
        <p:nvSpPr>
          <p:cNvPr id="23" name="Rounded Rectangle 22"/>
          <p:cNvSpPr/>
          <p:nvPr/>
        </p:nvSpPr>
        <p:spPr>
          <a:xfrm>
            <a:off x="8092440" y="3840480"/>
            <a:ext cx="3520440" cy="1682496"/>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4023360"/>
            <a:ext cx="3154680" cy="530352"/>
          </a:xfrm>
          <a:prstGeom prst="rect">
            <a:avLst/>
          </a:prstGeom>
          <a:noFill/>
        </p:spPr>
        <p:txBody>
          <a:bodyPr wrap="none" lIns="0" rIns="0" tIns="0" bIns="0">
            <a:spAutoFit/>
          </a:bodyPr>
          <a:lstStyle/>
          <a:p>
            <a:pPr>
              <a:lnSpc>
                <a:spcPts val="2318"/>
              </a:lnSpc>
              <a:spcBef>
                <a:spcPts val="0"/>
              </a:spcBef>
              <a:spcAft>
                <a:spcPts val="0"/>
              </a:spcAft>
              <a:defRPr sz="1900" b="1">
                <a:solidFill>
                  <a:srgbClr val="172B46"/>
                </a:solidFill>
                <a:latin typeface="Arial"/>
              </a:defRPr>
            </a:pPr>
            <a:r>
              <a:t>Credential protection</a:t>
            </a:r>
          </a:p>
        </p:txBody>
      </p:sp>
      <p:sp>
        <p:nvSpPr>
          <p:cNvPr id="25" name="TextBox 24"/>
          <p:cNvSpPr txBox="1"/>
          <p:nvPr/>
        </p:nvSpPr>
        <p:spPr>
          <a:xfrm>
            <a:off x="8275319" y="4727448"/>
            <a:ext cx="3154680" cy="68580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Verified database TLS and</a:t>
            </a:r>
          </a:p>
          <a:p>
            <a:pPr>
              <a:lnSpc>
                <a:spcPts val="1830"/>
              </a:lnSpc>
              <a:spcBef>
                <a:spcPts val="0"/>
              </a:spcBef>
              <a:spcAft>
                <a:spcPts val="0"/>
              </a:spcAft>
              <a:defRPr sz="1500" b="0">
                <a:solidFill>
                  <a:srgbClr val="5C6D82"/>
                </a:solidFill>
                <a:latin typeface="Arial"/>
              </a:defRPr>
            </a:pPr>
            <a:r>
              <a:t>encrypted OAuth tokens.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07 / VALIDATION</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32 automated checks passed</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Validated on 11 October 2026, including a real temporary PostgreSQL database.</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08 / 12</a:t>
            </a:r>
          </a:p>
        </p:txBody>
      </p:sp>
      <p:sp>
        <p:nvSpPr>
          <p:cNvPr id="8" name="Rounded Rectangle 7"/>
          <p:cNvSpPr/>
          <p:nvPr/>
        </p:nvSpPr>
        <p:spPr>
          <a:xfrm>
            <a:off x="594360" y="1993392"/>
            <a:ext cx="2788920" cy="3502152"/>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286000"/>
            <a:ext cx="2286000" cy="1115568"/>
          </a:xfrm>
          <a:prstGeom prst="rect">
            <a:avLst/>
          </a:prstGeom>
          <a:noFill/>
        </p:spPr>
        <p:txBody>
          <a:bodyPr wrap="none" lIns="0" rIns="0" tIns="0" bIns="0">
            <a:spAutoFit/>
          </a:bodyPr>
          <a:lstStyle/>
          <a:p>
            <a:pPr>
              <a:lnSpc>
                <a:spcPts val="7930"/>
              </a:lnSpc>
              <a:spcBef>
                <a:spcPts val="0"/>
              </a:spcBef>
              <a:spcAft>
                <a:spcPts val="0"/>
              </a:spcAft>
              <a:defRPr sz="6500" b="1">
                <a:solidFill>
                  <a:srgbClr val="FFFFFF"/>
                </a:solidFill>
                <a:latin typeface="Arial"/>
              </a:defRPr>
            </a:pPr>
            <a:r>
              <a:t>32</a:t>
            </a:r>
          </a:p>
        </p:txBody>
      </p:sp>
      <p:sp>
        <p:nvSpPr>
          <p:cNvPr id="10" name="TextBox 9"/>
          <p:cNvSpPr txBox="1"/>
          <p:nvPr/>
        </p:nvSpPr>
        <p:spPr>
          <a:xfrm>
            <a:off x="868680" y="3657600"/>
            <a:ext cx="2240280" cy="1078992"/>
          </a:xfrm>
          <a:prstGeom prst="rect">
            <a:avLst/>
          </a:prstGeom>
          <a:noFill/>
        </p:spPr>
        <p:txBody>
          <a:bodyPr wrap="none" lIns="0" rIns="0" tIns="0" bIns="0">
            <a:spAutoFit/>
          </a:bodyPr>
          <a:lstStyle/>
          <a:p>
            <a:pPr>
              <a:lnSpc>
                <a:spcPts val="2806"/>
              </a:lnSpc>
              <a:spcBef>
                <a:spcPts val="0"/>
              </a:spcBef>
              <a:spcAft>
                <a:spcPts val="0"/>
              </a:spcAft>
              <a:defRPr sz="2300" b="0">
                <a:solidFill>
                  <a:srgbClr val="FFFFFF"/>
                </a:solidFill>
                <a:latin typeface="Arial"/>
              </a:defRPr>
            </a:pPr>
            <a:r>
              <a:t>passed</a:t>
            </a:r>
          </a:p>
          <a:p>
            <a:pPr>
              <a:lnSpc>
                <a:spcPts val="2806"/>
              </a:lnSpc>
              <a:spcBef>
                <a:spcPts val="0"/>
              </a:spcBef>
              <a:spcAft>
                <a:spcPts val="0"/>
              </a:spcAft>
              <a:defRPr sz="2300" b="0">
                <a:solidFill>
                  <a:srgbClr val="FFFFFF"/>
                </a:solidFill>
                <a:latin typeface="Arial"/>
              </a:defRPr>
            </a:pPr>
            <a:r>
              <a:t>0 failed</a:t>
            </a:r>
          </a:p>
          <a:p>
            <a:pPr>
              <a:lnSpc>
                <a:spcPts val="2806"/>
              </a:lnSpc>
              <a:spcBef>
                <a:spcPts val="0"/>
              </a:spcBef>
              <a:spcAft>
                <a:spcPts val="0"/>
              </a:spcAft>
              <a:defRPr sz="2300" b="0">
                <a:solidFill>
                  <a:srgbClr val="FFFFFF"/>
                </a:solidFill>
                <a:latin typeface="Arial"/>
              </a:defRPr>
            </a:pPr>
            <a:r>
              <a:t>0 skipped</a:t>
            </a:r>
          </a:p>
        </p:txBody>
      </p:sp>
      <p:sp>
        <p:nvSpPr>
          <p:cNvPr id="11" name="TextBox 10"/>
          <p:cNvSpPr txBox="1"/>
          <p:nvPr/>
        </p:nvSpPr>
        <p:spPr>
          <a:xfrm>
            <a:off x="3767328" y="2103120"/>
            <a:ext cx="7543800" cy="448056"/>
          </a:xfrm>
          <a:prstGeom prst="rect">
            <a:avLst/>
          </a:prstGeom>
          <a:noFill/>
        </p:spPr>
        <p:txBody>
          <a:bodyPr wrap="none" lIns="0" rIns="0" tIns="0" bIns="0">
            <a:spAutoFit/>
          </a:bodyPr>
          <a:lstStyle/>
          <a:p>
            <a:pPr>
              <a:lnSpc>
                <a:spcPts val="2806"/>
              </a:lnSpc>
              <a:spcBef>
                <a:spcPts val="0"/>
              </a:spcBef>
              <a:spcAft>
                <a:spcPts val="0"/>
              </a:spcAft>
              <a:defRPr sz="2300" b="1">
                <a:solidFill>
                  <a:srgbClr val="172B46"/>
                </a:solidFill>
                <a:latin typeface="Arial"/>
              </a:defRPr>
            </a:pPr>
            <a:r>
              <a:t>Confirmed fixes</a:t>
            </a:r>
          </a:p>
        </p:txBody>
      </p:sp>
      <p:sp>
        <p:nvSpPr>
          <p:cNvPr id="12" name="TextBox 11"/>
          <p:cNvSpPr txBox="1"/>
          <p:nvPr/>
        </p:nvSpPr>
        <p:spPr>
          <a:xfrm>
            <a:off x="3767328" y="2852928"/>
            <a:ext cx="7543800" cy="2039112"/>
          </a:xfrm>
          <a:prstGeom prst="rect">
            <a:avLst/>
          </a:prstGeom>
          <a:noFill/>
        </p:spPr>
        <p:txBody>
          <a:bodyPr wrap="none" lIns="0" rIns="0" tIns="0" bIns="0">
            <a:spAutoFit/>
          </a:bodyPr>
          <a:lstStyle/>
          <a:p>
            <a:pPr>
              <a:lnSpc>
                <a:spcPts val="2196"/>
              </a:lnSpc>
              <a:spcBef>
                <a:spcPts val="0"/>
              </a:spcBef>
              <a:spcAft>
                <a:spcPts val="0"/>
              </a:spcAft>
              <a:defRPr sz="1800" b="0">
                <a:solidFill>
                  <a:srgbClr val="5C6D82"/>
                </a:solidFill>
                <a:latin typeface="Arial"/>
              </a:defRPr>
            </a:pPr>
            <a:r>
              <a:t>DOCX table contents are included.</a:t>
            </a:r>
          </a:p>
          <a:p>
            <a:pPr>
              <a:lnSpc>
                <a:spcPts val="2196"/>
              </a:lnSpc>
              <a:spcBef>
                <a:spcPts val="0"/>
              </a:spcBef>
              <a:spcAft>
                <a:spcPts val="0"/>
              </a:spcAft>
              <a:defRPr sz="1800" b="0">
                <a:solidFill>
                  <a:srgbClr val="5C6D82"/>
                </a:solidFill>
                <a:latin typeface="Arial"/>
              </a:defRPr>
            </a:pPr>
            <a:r>
              <a:t>Accented “résumé” no longer invents an R skill.</a:t>
            </a:r>
          </a:p>
          <a:p>
            <a:pPr>
              <a:lnSpc>
                <a:spcPts val="2196"/>
              </a:lnSpc>
              <a:spcBef>
                <a:spcPts val="0"/>
              </a:spcBef>
              <a:spcAft>
                <a:spcPts val="0"/>
              </a:spcAft>
              <a:defRPr sz="1800" b="0">
                <a:solidFill>
                  <a:srgbClr val="5C6D82"/>
                </a:solidFill>
                <a:latin typeface="Arial"/>
              </a:defRPr>
            </a:pPr>
            <a:r>
              <a:t>Missing or conflicting locations remain uncertain.</a:t>
            </a:r>
          </a:p>
          <a:p>
            <a:pPr>
              <a:lnSpc>
                <a:spcPts val="2196"/>
              </a:lnSpc>
              <a:spcBef>
                <a:spcPts val="0"/>
              </a:spcBef>
              <a:spcAft>
                <a:spcPts val="0"/>
              </a:spcAft>
              <a:defRPr sz="1800" b="0">
                <a:solidFill>
                  <a:srgbClr val="5C6D82"/>
                </a:solidFill>
                <a:latin typeface="Arial"/>
              </a:defRPr>
            </a:pPr>
            <a:r>
              <a:t>Degree dates are not treated as work experience.</a:t>
            </a:r>
          </a:p>
          <a:p>
            <a:pPr>
              <a:lnSpc>
                <a:spcPts val="2196"/>
              </a:lnSpc>
              <a:spcBef>
                <a:spcPts val="0"/>
              </a:spcBef>
              <a:spcAft>
                <a:spcPts val="0"/>
              </a:spcAft>
              <a:defRPr sz="1800" b="0">
                <a:solidFill>
                  <a:srgbClr val="5C6D82"/>
                </a:solidFill>
                <a:latin typeface="Arial"/>
              </a:defRPr>
            </a:pPr>
            <a:r>
              <a:t>Null optional job text does not crash matching.</a:t>
            </a:r>
          </a:p>
        </p:txBody>
      </p:sp>
      <p:sp>
        <p:nvSpPr>
          <p:cNvPr id="13" name="TextBox 12"/>
          <p:cNvSpPr txBox="1"/>
          <p:nvPr/>
        </p:nvSpPr>
        <p:spPr>
          <a:xfrm>
            <a:off x="3767328" y="5266944"/>
            <a:ext cx="7543800" cy="603504"/>
          </a:xfrm>
          <a:prstGeom prst="rect">
            <a:avLst/>
          </a:prstGeom>
          <a:noFill/>
        </p:spPr>
        <p:txBody>
          <a:bodyPr wrap="none" lIns="0" rIns="0" tIns="0" bIns="0">
            <a:spAutoFit/>
          </a:bodyPr>
          <a:lstStyle/>
          <a:p>
            <a:pPr>
              <a:lnSpc>
                <a:spcPts val="1952"/>
              </a:lnSpc>
              <a:spcBef>
                <a:spcPts val="0"/>
              </a:spcBef>
              <a:spcAft>
                <a:spcPts val="0"/>
              </a:spcAft>
              <a:defRPr sz="1600" b="1">
                <a:solidFill>
                  <a:srgbClr val="1967C3"/>
                </a:solidFill>
                <a:latin typeface="Arial"/>
              </a:defRPr>
            </a:pPr>
            <a:r>
              <a:t>Tests verify software behavior; they are not a model-accuracy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08 / HONEST FEATURE STATUS</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Implemented behavior and remaining work</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The capstone scope separates working code from configuration and future integrations.</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09 / 12</a:t>
            </a:r>
          </a:p>
        </p:txBody>
      </p:sp>
      <p:sp>
        <p:nvSpPr>
          <p:cNvPr id="8" name="Rectangle 7"/>
          <p:cNvSpPr/>
          <p:nvPr/>
        </p:nvSpPr>
        <p:spPr>
          <a:xfrm>
            <a:off x="594360" y="1984248"/>
            <a:ext cx="10991088" cy="475488"/>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12264"/>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Résumé / loops / discovery / matching</a:t>
            </a:r>
          </a:p>
        </p:txBody>
      </p:sp>
      <p:sp>
        <p:nvSpPr>
          <p:cNvPr id="10" name="TextBox 9"/>
          <p:cNvSpPr txBox="1"/>
          <p:nvPr/>
        </p:nvSpPr>
        <p:spPr>
          <a:xfrm>
            <a:off x="5724144" y="2112264"/>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Implemented</a:t>
            </a:r>
          </a:p>
        </p:txBody>
      </p:sp>
      <p:sp>
        <p:nvSpPr>
          <p:cNvPr id="11" name="Rectangle 10"/>
          <p:cNvSpPr/>
          <p:nvPr/>
        </p:nvSpPr>
        <p:spPr>
          <a:xfrm>
            <a:off x="594360" y="2514600"/>
            <a:ext cx="10991088"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642616"/>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Exact draft approval / tracking / CSV</a:t>
            </a:r>
          </a:p>
        </p:txBody>
      </p:sp>
      <p:sp>
        <p:nvSpPr>
          <p:cNvPr id="13" name="TextBox 12"/>
          <p:cNvSpPr txBox="1"/>
          <p:nvPr/>
        </p:nvSpPr>
        <p:spPr>
          <a:xfrm>
            <a:off x="5724144" y="2642616"/>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Implemented</a:t>
            </a:r>
          </a:p>
        </p:txBody>
      </p:sp>
      <p:sp>
        <p:nvSpPr>
          <p:cNvPr id="14" name="Rectangle 13"/>
          <p:cNvSpPr/>
          <p:nvPr/>
        </p:nvSpPr>
        <p:spPr>
          <a:xfrm>
            <a:off x="594360" y="3044952"/>
            <a:ext cx="10991088" cy="475488"/>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172968"/>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Per-user Gmail sending</a:t>
            </a:r>
          </a:p>
        </p:txBody>
      </p:sp>
      <p:sp>
        <p:nvSpPr>
          <p:cNvPr id="16" name="TextBox 15"/>
          <p:cNvSpPr txBox="1"/>
          <p:nvPr/>
        </p:nvSpPr>
        <p:spPr>
          <a:xfrm>
            <a:off x="5724144" y="3172968"/>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Built; OAuth setup + live delivery test pending</a:t>
            </a:r>
          </a:p>
        </p:txBody>
      </p:sp>
      <p:sp>
        <p:nvSpPr>
          <p:cNvPr id="17" name="Rectangle 16"/>
          <p:cNvSpPr/>
          <p:nvPr/>
        </p:nvSpPr>
        <p:spPr>
          <a:xfrm>
            <a:off x="594360" y="3575303"/>
            <a:ext cx="10991088"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703320"/>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Scheduled discovery</a:t>
            </a:r>
          </a:p>
        </p:txBody>
      </p:sp>
      <p:sp>
        <p:nvSpPr>
          <p:cNvPr id="19" name="TextBox 18"/>
          <p:cNvSpPr txBox="1"/>
          <p:nvPr/>
        </p:nvSpPr>
        <p:spPr>
          <a:xfrm>
            <a:off x="5724144" y="3703320"/>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Built; Actions secret + default-branch setup</a:t>
            </a:r>
          </a:p>
        </p:txBody>
      </p:sp>
      <p:sp>
        <p:nvSpPr>
          <p:cNvPr id="20" name="Rectangle 19"/>
          <p:cNvSpPr/>
          <p:nvPr/>
        </p:nvSpPr>
        <p:spPr>
          <a:xfrm>
            <a:off x="594360" y="4105656"/>
            <a:ext cx="10991088" cy="475488"/>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233672"/>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Public URL / WhatsApp app sharing</a:t>
            </a:r>
          </a:p>
        </p:txBody>
      </p:sp>
      <p:sp>
        <p:nvSpPr>
          <p:cNvPr id="22" name="TextBox 21"/>
          <p:cNvSpPr txBox="1"/>
          <p:nvPr/>
        </p:nvSpPr>
        <p:spPr>
          <a:xfrm>
            <a:off x="5724144" y="4233672"/>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URL created; private configuration pending</a:t>
            </a:r>
          </a:p>
        </p:txBody>
      </p:sp>
      <p:sp>
        <p:nvSpPr>
          <p:cNvPr id="23" name="Rectangle 22"/>
          <p:cNvSpPr/>
          <p:nvPr/>
        </p:nvSpPr>
        <p:spPr>
          <a:xfrm>
            <a:off x="594360" y="4636008"/>
            <a:ext cx="10991088"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4764024"/>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Automatic ATS forms / inbox replies</a:t>
            </a:r>
          </a:p>
        </p:txBody>
      </p:sp>
      <p:sp>
        <p:nvSpPr>
          <p:cNvPr id="25" name="TextBox 24"/>
          <p:cNvSpPr txBox="1"/>
          <p:nvPr/>
        </p:nvSpPr>
        <p:spPr>
          <a:xfrm>
            <a:off x="5724144" y="4764024"/>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Not implemented; manual confirmation today</a:t>
            </a:r>
          </a:p>
        </p:txBody>
      </p:sp>
      <p:sp>
        <p:nvSpPr>
          <p:cNvPr id="26" name="Rectangle 25"/>
          <p:cNvSpPr/>
          <p:nvPr/>
        </p:nvSpPr>
        <p:spPr>
          <a:xfrm>
            <a:off x="594360" y="5166359"/>
            <a:ext cx="10991088" cy="475488"/>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5294375"/>
            <a:ext cx="484632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172B46"/>
                </a:solidFill>
                <a:latin typeface="Arial"/>
              </a:defRPr>
            </a:pPr>
            <a:r>
              <a:t>OCR / trained semantic model</a:t>
            </a:r>
          </a:p>
        </p:txBody>
      </p:sp>
      <p:sp>
        <p:nvSpPr>
          <p:cNvPr id="28" name="TextBox 27"/>
          <p:cNvSpPr txBox="1"/>
          <p:nvPr/>
        </p:nvSpPr>
        <p:spPr>
          <a:xfrm>
            <a:off x="5724144" y="5294375"/>
            <a:ext cx="5623560" cy="274320"/>
          </a:xfrm>
          <a:prstGeom prst="rect">
            <a:avLst/>
          </a:prstGeom>
          <a:noFill/>
        </p:spPr>
        <p:txBody>
          <a:bodyPr wrap="none" lIns="0" rIns="0" tIns="0" bIns="0">
            <a:spAutoFit/>
          </a:bodyPr>
          <a:lstStyle/>
          <a:p>
            <a:pPr>
              <a:lnSpc>
                <a:spcPts val="1707"/>
              </a:lnSpc>
              <a:spcBef>
                <a:spcPts val="0"/>
              </a:spcBef>
              <a:spcAft>
                <a:spcPts val="0"/>
              </a:spcAft>
              <a:defRPr sz="1400" b="0">
                <a:solidFill>
                  <a:srgbClr val="5C6D82"/>
                </a:solidFill>
                <a:latin typeface="Arial"/>
              </a:defRPr>
            </a:pPr>
            <a:r>
              <a:t>Not implemented</a:t>
            </a:r>
          </a:p>
        </p:txBody>
      </p:sp>
      <p:sp>
        <p:nvSpPr>
          <p:cNvPr id="29" name="TextBox 28"/>
          <p:cNvSpPr txBox="1"/>
          <p:nvPr/>
        </p:nvSpPr>
        <p:spPr>
          <a:xfrm>
            <a:off x="713232" y="6016752"/>
            <a:ext cx="10789920" cy="256032"/>
          </a:xfrm>
          <a:prstGeom prst="rect">
            <a:avLst/>
          </a:prstGeom>
          <a:noFill/>
        </p:spPr>
        <p:txBody>
          <a:bodyPr wrap="none" lIns="0" rIns="0" tIns="0" bIns="0">
            <a:spAutoFit/>
          </a:bodyPr>
          <a:lstStyle/>
          <a:p>
            <a:pPr>
              <a:lnSpc>
                <a:spcPts val="1586"/>
              </a:lnSpc>
              <a:spcBef>
                <a:spcPts val="0"/>
              </a:spcBef>
              <a:spcAft>
                <a:spcPts val="0"/>
              </a:spcAft>
              <a:defRPr sz="1300" b="0">
                <a:solidFill>
                  <a:srgbClr val="1967C3"/>
                </a:solidFill>
                <a:latin typeface="Arial"/>
              </a:defRPr>
            </a:pPr>
            <a:r>
              <a:t>No submission or employer response is claimed without a confirmed 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09 / PUBLIC DEPLOYMENT</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Finish configuring the public app</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Streamlit Community Cloud hosts the app; Google and PostgreSQL enable private use.</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10 / 12</a:t>
            </a:r>
          </a:p>
        </p:txBody>
      </p:sp>
      <p:sp>
        <p:nvSpPr>
          <p:cNvPr id="8" name="Rounded Rectangle 7"/>
          <p:cNvSpPr/>
          <p:nvPr/>
        </p:nvSpPr>
        <p:spPr>
          <a:xfrm>
            <a:off x="594360" y="1956816"/>
            <a:ext cx="3429000" cy="3364992"/>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21408"/>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STEP 1</a:t>
            </a:r>
          </a:p>
        </p:txBody>
      </p:sp>
      <p:sp>
        <p:nvSpPr>
          <p:cNvPr id="10" name="TextBox 9"/>
          <p:cNvSpPr txBox="1"/>
          <p:nvPr/>
        </p:nvSpPr>
        <p:spPr>
          <a:xfrm>
            <a:off x="777240" y="2468880"/>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App URL created</a:t>
            </a:r>
          </a:p>
        </p:txBody>
      </p:sp>
      <p:sp>
        <p:nvSpPr>
          <p:cNvPr id="11" name="TextBox 10"/>
          <p:cNvSpPr txBox="1"/>
          <p:nvPr/>
        </p:nvSpPr>
        <p:spPr>
          <a:xfrm>
            <a:off x="777240" y="3227832"/>
            <a:ext cx="3063240" cy="192024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Repository: automated-ai-</a:t>
            </a:r>
          </a:p>
          <a:p>
            <a:pPr>
              <a:lnSpc>
                <a:spcPts val="1830"/>
              </a:lnSpc>
              <a:spcBef>
                <a:spcPts val="0"/>
              </a:spcBef>
              <a:spcAft>
                <a:spcPts val="0"/>
              </a:spcAft>
              <a:defRPr sz="1500" b="0">
                <a:solidFill>
                  <a:srgbClr val="5C6D82"/>
                </a:solidFill>
                <a:latin typeface="Arial"/>
              </a:defRPr>
            </a:pPr>
            <a:r>
              <a:t>Branch:</a:t>
            </a:r>
          </a:p>
          <a:p>
            <a:pPr>
              <a:lnSpc>
                <a:spcPts val="1830"/>
              </a:lnSpc>
              <a:spcBef>
                <a:spcPts val="0"/>
              </a:spcBef>
              <a:spcAft>
                <a:spcPts val="0"/>
              </a:spcAft>
              <a:defRPr sz="1500" b="0">
                <a:solidFill>
                  <a:srgbClr val="5C6D82"/>
                </a:solidFill>
                <a:latin typeface="Arial"/>
              </a:defRPr>
            </a:pPr>
            <a:r>
              <a:t>codex/approval-gated-streamlit</a:t>
            </a:r>
          </a:p>
          <a:p>
            <a:pPr>
              <a:lnSpc>
                <a:spcPts val="1830"/>
              </a:lnSpc>
              <a:spcBef>
                <a:spcPts val="0"/>
              </a:spcBef>
              <a:spcAft>
                <a:spcPts val="0"/>
              </a:spcAft>
              <a:defRPr sz="1500" b="0">
                <a:solidFill>
                  <a:srgbClr val="5C6D82"/>
                </a:solidFill>
                <a:latin typeface="Arial"/>
              </a:defRPr>
            </a:pPr>
            <a:r>
              <a:t>File: streamlit_app.py</a:t>
            </a:r>
          </a:p>
          <a:p>
            <a:pPr>
              <a:lnSpc>
                <a:spcPts val="1830"/>
              </a:lnSpc>
              <a:spcBef>
                <a:spcPts val="0"/>
              </a:spcBef>
              <a:spcAft>
                <a:spcPts val="0"/>
              </a:spcAft>
              <a:defRPr sz="1500" b="0">
                <a:solidFill>
                  <a:srgbClr val="5C6D82"/>
                </a:solidFill>
                <a:latin typeface="Arial"/>
              </a:defRPr>
            </a:pPr>
            <a:r>
              <a:t>Python: 3.12</a:t>
            </a:r>
          </a:p>
        </p:txBody>
      </p:sp>
      <p:sp>
        <p:nvSpPr>
          <p:cNvPr id="12" name="Rounded Rectangle 11"/>
          <p:cNvSpPr/>
          <p:nvPr/>
        </p:nvSpPr>
        <p:spPr>
          <a:xfrm>
            <a:off x="4379976" y="1956816"/>
            <a:ext cx="3429000" cy="3364992"/>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121408"/>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STEP 2</a:t>
            </a:r>
          </a:p>
        </p:txBody>
      </p:sp>
      <p:sp>
        <p:nvSpPr>
          <p:cNvPr id="14" name="TextBox 13"/>
          <p:cNvSpPr txBox="1"/>
          <p:nvPr/>
        </p:nvSpPr>
        <p:spPr>
          <a:xfrm>
            <a:off x="4562856" y="2468880"/>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Configure secrets</a:t>
            </a:r>
          </a:p>
        </p:txBody>
      </p:sp>
      <p:sp>
        <p:nvSpPr>
          <p:cNvPr id="15" name="TextBox 14"/>
          <p:cNvSpPr txBox="1"/>
          <p:nvPr/>
        </p:nvSpPr>
        <p:spPr>
          <a:xfrm>
            <a:off x="4562856" y="3227832"/>
            <a:ext cx="3063240" cy="192024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Managed PostgreSQL</a:t>
            </a:r>
          </a:p>
          <a:p>
            <a:pPr>
              <a:lnSpc>
                <a:spcPts val="1830"/>
              </a:lnSpc>
              <a:spcBef>
                <a:spcPts val="0"/>
              </a:spcBef>
              <a:spcAft>
                <a:spcPts val="0"/>
              </a:spcAft>
              <a:defRPr sz="1500" b="0">
                <a:solidFill>
                  <a:srgbClr val="5C6D82"/>
                </a:solidFill>
                <a:latin typeface="Arial"/>
              </a:defRPr>
            </a:pPr>
            <a:r>
              <a:t>Google Web OAuth + Gmail API</a:t>
            </a:r>
          </a:p>
          <a:p>
            <a:pPr>
              <a:lnSpc>
                <a:spcPts val="1830"/>
              </a:lnSpc>
              <a:spcBef>
                <a:spcPts val="0"/>
              </a:spcBef>
              <a:spcAft>
                <a:spcPts val="0"/>
              </a:spcAft>
              <a:defRPr sz="1500" b="0">
                <a:solidFill>
                  <a:srgbClr val="5C6D82"/>
                </a:solidFill>
                <a:latin typeface="Arial"/>
              </a:defRPr>
            </a:pPr>
            <a:r>
              <a:t>Cookie and encryption keys</a:t>
            </a:r>
          </a:p>
          <a:p>
            <a:pPr>
              <a:lnSpc>
                <a:spcPts val="1830"/>
              </a:lnSpc>
              <a:spcBef>
                <a:spcPts val="0"/>
              </a:spcBef>
              <a:spcAft>
                <a:spcPts val="0"/>
              </a:spcAft>
              <a:defRPr sz="1500" b="0">
                <a:solidFill>
                  <a:srgbClr val="5C6D82"/>
                </a:solidFill>
                <a:latin typeface="Arial"/>
              </a:defRPr>
            </a:pPr>
            <a:r>
              <a:t>Actual app callback URLs</a:t>
            </a:r>
          </a:p>
        </p:txBody>
      </p:sp>
      <p:sp>
        <p:nvSpPr>
          <p:cNvPr id="16" name="Rounded Rectangle 15"/>
          <p:cNvSpPr/>
          <p:nvPr/>
        </p:nvSpPr>
        <p:spPr>
          <a:xfrm>
            <a:off x="8174736" y="1956816"/>
            <a:ext cx="3429000" cy="3364992"/>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5" y="2121408"/>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STEP 3</a:t>
            </a:r>
          </a:p>
        </p:txBody>
      </p:sp>
      <p:sp>
        <p:nvSpPr>
          <p:cNvPr id="18" name="TextBox 17"/>
          <p:cNvSpPr txBox="1"/>
          <p:nvPr/>
        </p:nvSpPr>
        <p:spPr>
          <a:xfrm>
            <a:off x="8357615" y="2468880"/>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Validate and share</a:t>
            </a:r>
          </a:p>
        </p:txBody>
      </p:sp>
      <p:sp>
        <p:nvSpPr>
          <p:cNvPr id="19" name="TextBox 18"/>
          <p:cNvSpPr txBox="1"/>
          <p:nvPr/>
        </p:nvSpPr>
        <p:spPr>
          <a:xfrm>
            <a:off x="8357615" y="3227832"/>
            <a:ext cx="3063240" cy="1920240"/>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Two private test accounts</a:t>
            </a:r>
          </a:p>
          <a:p>
            <a:pPr>
              <a:lnSpc>
                <a:spcPts val="1830"/>
              </a:lnSpc>
              <a:spcBef>
                <a:spcPts val="0"/>
              </a:spcBef>
              <a:spcAft>
                <a:spcPts val="0"/>
              </a:spcAft>
              <a:defRPr sz="1500" b="0">
                <a:solidFill>
                  <a:srgbClr val="5C6D82"/>
                </a:solidFill>
                <a:latin typeface="Arial"/>
              </a:defRPr>
            </a:pPr>
            <a:r>
              <a:t>Reviewed résumé and draft</a:t>
            </a:r>
          </a:p>
          <a:p>
            <a:pPr>
              <a:lnSpc>
                <a:spcPts val="1830"/>
              </a:lnSpc>
              <a:spcBef>
                <a:spcPts val="0"/>
              </a:spcBef>
              <a:spcAft>
                <a:spcPts val="0"/>
              </a:spcAft>
              <a:defRPr sz="1500" b="0">
                <a:solidFill>
                  <a:srgbClr val="5C6D82"/>
                </a:solidFill>
                <a:latin typeface="Arial"/>
              </a:defRPr>
            </a:pPr>
            <a:r>
              <a:t>User-approved test email</a:t>
            </a:r>
          </a:p>
          <a:p>
            <a:pPr>
              <a:lnSpc>
                <a:spcPts val="1830"/>
              </a:lnSpc>
              <a:spcBef>
                <a:spcPts val="0"/>
              </a:spcBef>
              <a:spcAft>
                <a:spcPts val="0"/>
              </a:spcAft>
              <a:defRPr sz="1500" b="0">
                <a:solidFill>
                  <a:srgbClr val="5C6D82"/>
                </a:solidFill>
                <a:latin typeface="Arial"/>
              </a:defRPr>
            </a:pPr>
            <a:r>
              <a:t>Share app → WhatsApp</a:t>
            </a:r>
          </a:p>
        </p:txBody>
      </p:sp>
      <p:sp>
        <p:nvSpPr>
          <p:cNvPr id="20" name="TextBox 19"/>
          <p:cNvSpPr txBox="1"/>
          <p:nvPr/>
        </p:nvSpPr>
        <p:spPr>
          <a:xfrm>
            <a:off x="685800" y="5623560"/>
            <a:ext cx="10789920" cy="347472"/>
          </a:xfrm>
          <a:prstGeom prst="rect">
            <a:avLst/>
          </a:prstGeom>
          <a:noFill/>
        </p:spPr>
        <p:txBody>
          <a:bodyPr wrap="none" lIns="0" rIns="0" tIns="0" bIns="0">
            <a:spAutoFit/>
          </a:bodyPr>
          <a:lstStyle/>
          <a:p>
            <a:pPr>
              <a:lnSpc>
                <a:spcPts val="1830"/>
              </a:lnSpc>
              <a:spcBef>
                <a:spcPts val="0"/>
              </a:spcBef>
              <a:spcAft>
                <a:spcPts val="0"/>
              </a:spcAft>
              <a:defRPr sz="1500" b="0">
                <a:solidFill>
                  <a:srgbClr val="1967C3"/>
                </a:solidFill>
                <a:latin typeface="Arial"/>
              </a:defRPr>
            </a:pPr>
            <a:r>
              <a:t>Public app: https://5dasesqq5hdkocoz5dupwp.streamlit.app/</a:t>
            </a:r>
          </a:p>
        </p:txBody>
      </p:sp>
      <p:sp>
        <p:nvSpPr>
          <p:cNvPr id="21" name="TextBox 20"/>
          <p:cNvSpPr txBox="1"/>
          <p:nvPr/>
        </p:nvSpPr>
        <p:spPr>
          <a:xfrm>
            <a:off x="685800" y="6035040"/>
            <a:ext cx="10789920" cy="292608"/>
          </a:xfrm>
          <a:prstGeom prst="rect">
            <a:avLst/>
          </a:prstGeom>
          <a:noFill/>
        </p:spPr>
        <p:txBody>
          <a:bodyPr wrap="none" lIns="0" rIns="0" tIns="0" bIns="0">
            <a:spAutoFit/>
          </a:bodyPr>
          <a:lstStyle/>
          <a:p>
            <a:pPr>
              <a:lnSpc>
                <a:spcPts val="1586"/>
              </a:lnSpc>
              <a:spcBef>
                <a:spcPts val="0"/>
              </a:spcBef>
              <a:spcAft>
                <a:spcPts val="0"/>
              </a:spcAft>
              <a:defRPr sz="1300" b="0">
                <a:solidFill>
                  <a:srgbClr val="5C6D82"/>
                </a:solidFill>
                <a:latin typeface="Arial"/>
              </a:defRPr>
            </a:pPr>
            <a:r>
              <a:t>The app currently shows setup. Add private secrets before inviting demo users.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10 / CAPSTONE DEMONSTRATION</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A short, reproducible demonstration</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Demonstrate the actual state; use clearly labeled demo data when presenting.</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11 / 12</a:t>
            </a:r>
          </a:p>
        </p:txBody>
      </p:sp>
      <p:sp>
        <p:nvSpPr>
          <p:cNvPr id="8" name="Rounded Rectangle 7"/>
          <p:cNvSpPr/>
          <p:nvPr/>
        </p:nvSpPr>
        <p:spPr>
          <a:xfrm>
            <a:off x="658368" y="1956816"/>
            <a:ext cx="384048" cy="3657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20824"/>
            <a:ext cx="228600" cy="228600"/>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1</a:t>
            </a:r>
          </a:p>
        </p:txBody>
      </p:sp>
      <p:sp>
        <p:nvSpPr>
          <p:cNvPr id="10" name="TextBox 9"/>
          <p:cNvSpPr txBox="1"/>
          <p:nvPr/>
        </p:nvSpPr>
        <p:spPr>
          <a:xfrm>
            <a:off x="1298448" y="1984248"/>
            <a:ext cx="10149840" cy="402336"/>
          </a:xfrm>
          <a:prstGeom prst="rect">
            <a:avLst/>
          </a:prstGeom>
          <a:noFill/>
        </p:spPr>
        <p:txBody>
          <a:bodyPr wrap="none" lIns="0" rIns="0" tIns="0" bIns="0">
            <a:spAutoFit/>
          </a:bodyPr>
          <a:lstStyle/>
          <a:p>
            <a:pPr>
              <a:lnSpc>
                <a:spcPts val="2196"/>
              </a:lnSpc>
              <a:spcBef>
                <a:spcPts val="0"/>
              </a:spcBef>
              <a:spcAft>
                <a:spcPts val="0"/>
              </a:spcAft>
              <a:defRPr sz="1800" b="0">
                <a:solidFill>
                  <a:srgbClr val="172B46"/>
                </a:solidFill>
                <a:latin typeface="Arial"/>
              </a:defRPr>
            </a:pPr>
            <a:r>
              <a:t>Upload a readable résumé and review the extracted evidence.</a:t>
            </a:r>
          </a:p>
        </p:txBody>
      </p:sp>
      <p:sp>
        <p:nvSpPr>
          <p:cNvPr id="11" name="Rounded Rectangle 10"/>
          <p:cNvSpPr/>
          <p:nvPr/>
        </p:nvSpPr>
        <p:spPr>
          <a:xfrm>
            <a:off x="658368" y="2523744"/>
            <a:ext cx="384048" cy="3657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587752"/>
            <a:ext cx="228600" cy="228600"/>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2</a:t>
            </a:r>
          </a:p>
        </p:txBody>
      </p:sp>
      <p:sp>
        <p:nvSpPr>
          <p:cNvPr id="13" name="TextBox 12"/>
          <p:cNvSpPr txBox="1"/>
          <p:nvPr/>
        </p:nvSpPr>
        <p:spPr>
          <a:xfrm>
            <a:off x="1298448" y="2551176"/>
            <a:ext cx="10149840" cy="402336"/>
          </a:xfrm>
          <a:prstGeom prst="rect">
            <a:avLst/>
          </a:prstGeom>
          <a:noFill/>
        </p:spPr>
        <p:txBody>
          <a:bodyPr wrap="none" lIns="0" rIns="0" tIns="0" bIns="0">
            <a:spAutoFit/>
          </a:bodyPr>
          <a:lstStyle/>
          <a:p>
            <a:pPr>
              <a:lnSpc>
                <a:spcPts val="2196"/>
              </a:lnSpc>
              <a:spcBef>
                <a:spcPts val="0"/>
              </a:spcBef>
              <a:spcAft>
                <a:spcPts val="0"/>
              </a:spcAft>
              <a:defRPr sz="1800" b="0">
                <a:solidFill>
                  <a:srgbClr val="172B46"/>
                </a:solidFill>
                <a:latin typeface="Arial"/>
              </a:defRPr>
            </a:pPr>
            <a:r>
              <a:t>Create an India / remote loop with a reviewed template and limits.</a:t>
            </a:r>
          </a:p>
        </p:txBody>
      </p:sp>
      <p:sp>
        <p:nvSpPr>
          <p:cNvPr id="14" name="Rounded Rectangle 13"/>
          <p:cNvSpPr/>
          <p:nvPr/>
        </p:nvSpPr>
        <p:spPr>
          <a:xfrm>
            <a:off x="658368" y="3090672"/>
            <a:ext cx="384048" cy="3657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154679"/>
            <a:ext cx="228600" cy="228600"/>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3</a:t>
            </a:r>
          </a:p>
        </p:txBody>
      </p:sp>
      <p:sp>
        <p:nvSpPr>
          <p:cNvPr id="16" name="TextBox 15"/>
          <p:cNvSpPr txBox="1"/>
          <p:nvPr/>
        </p:nvSpPr>
        <p:spPr>
          <a:xfrm>
            <a:off x="1298448" y="3118103"/>
            <a:ext cx="10149840" cy="402336"/>
          </a:xfrm>
          <a:prstGeom prst="rect">
            <a:avLst/>
          </a:prstGeom>
          <a:noFill/>
        </p:spPr>
        <p:txBody>
          <a:bodyPr wrap="none" lIns="0" rIns="0" tIns="0" bIns="0">
            <a:spAutoFit/>
          </a:bodyPr>
          <a:lstStyle/>
          <a:p>
            <a:pPr>
              <a:lnSpc>
                <a:spcPts val="2196"/>
              </a:lnSpc>
              <a:spcBef>
                <a:spcPts val="0"/>
              </a:spcBef>
              <a:spcAft>
                <a:spcPts val="0"/>
              </a:spcAft>
              <a:defRPr sz="1800" b="0">
                <a:solidFill>
                  <a:srgbClr val="172B46"/>
                </a:solidFill>
                <a:latin typeface="Arial"/>
              </a:defRPr>
            </a:pPr>
            <a:r>
              <a:t>Discover real vacancies and inspect matched / missing skills.</a:t>
            </a:r>
          </a:p>
        </p:txBody>
      </p:sp>
      <p:sp>
        <p:nvSpPr>
          <p:cNvPr id="17" name="Rounded Rectangle 16"/>
          <p:cNvSpPr/>
          <p:nvPr/>
        </p:nvSpPr>
        <p:spPr>
          <a:xfrm>
            <a:off x="658368" y="3657600"/>
            <a:ext cx="384048" cy="3657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721608"/>
            <a:ext cx="228600" cy="228600"/>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4</a:t>
            </a:r>
          </a:p>
        </p:txBody>
      </p:sp>
      <p:sp>
        <p:nvSpPr>
          <p:cNvPr id="19" name="TextBox 18"/>
          <p:cNvSpPr txBox="1"/>
          <p:nvPr/>
        </p:nvSpPr>
        <p:spPr>
          <a:xfrm>
            <a:off x="1298448" y="3685032"/>
            <a:ext cx="10149840" cy="402336"/>
          </a:xfrm>
          <a:prstGeom prst="rect">
            <a:avLst/>
          </a:prstGeom>
          <a:noFill/>
        </p:spPr>
        <p:txBody>
          <a:bodyPr wrap="none" lIns="0" rIns="0" tIns="0" bIns="0">
            <a:spAutoFit/>
          </a:bodyPr>
          <a:lstStyle/>
          <a:p>
            <a:pPr>
              <a:lnSpc>
                <a:spcPts val="2196"/>
              </a:lnSpc>
              <a:spcBef>
                <a:spcPts val="0"/>
              </a:spcBef>
              <a:spcAft>
                <a:spcPts val="0"/>
              </a:spcAft>
              <a:defRPr sz="1800" b="0">
                <a:solidFill>
                  <a:srgbClr val="172B46"/>
                </a:solidFill>
                <a:latin typeface="Arial"/>
              </a:defRPr>
            </a:pPr>
            <a:r>
              <a:t>Verify mandatory criteria and the employer-published contact.</a:t>
            </a:r>
          </a:p>
        </p:txBody>
      </p:sp>
      <p:sp>
        <p:nvSpPr>
          <p:cNvPr id="20" name="Rounded Rectangle 19"/>
          <p:cNvSpPr/>
          <p:nvPr/>
        </p:nvSpPr>
        <p:spPr>
          <a:xfrm>
            <a:off x="658368" y="4224528"/>
            <a:ext cx="384048" cy="3657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288536"/>
            <a:ext cx="228600" cy="228600"/>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5</a:t>
            </a:r>
          </a:p>
        </p:txBody>
      </p:sp>
      <p:sp>
        <p:nvSpPr>
          <p:cNvPr id="22" name="TextBox 21"/>
          <p:cNvSpPr txBox="1"/>
          <p:nvPr/>
        </p:nvSpPr>
        <p:spPr>
          <a:xfrm>
            <a:off x="1298448" y="4251960"/>
            <a:ext cx="10149840" cy="402336"/>
          </a:xfrm>
          <a:prstGeom prst="rect">
            <a:avLst/>
          </a:prstGeom>
          <a:noFill/>
        </p:spPr>
        <p:txBody>
          <a:bodyPr wrap="none" lIns="0" rIns="0" tIns="0" bIns="0">
            <a:spAutoFit/>
          </a:bodyPr>
          <a:lstStyle/>
          <a:p>
            <a:pPr>
              <a:lnSpc>
                <a:spcPts val="2196"/>
              </a:lnSpc>
              <a:spcBef>
                <a:spcPts val="0"/>
              </a:spcBef>
              <a:spcAft>
                <a:spcPts val="0"/>
              </a:spcAft>
              <a:defRPr sz="1800" b="0">
                <a:solidFill>
                  <a:srgbClr val="172B46"/>
                </a:solidFill>
                <a:latin typeface="Arial"/>
              </a:defRPr>
            </a:pPr>
            <a:r>
              <a:t>Review the exact draft and original PDF before any approval.</a:t>
            </a:r>
          </a:p>
        </p:txBody>
      </p:sp>
      <p:sp>
        <p:nvSpPr>
          <p:cNvPr id="23" name="Rounded Rectangle 22"/>
          <p:cNvSpPr/>
          <p:nvPr/>
        </p:nvSpPr>
        <p:spPr>
          <a:xfrm>
            <a:off x="658368" y="4791456"/>
            <a:ext cx="384048" cy="365760"/>
          </a:xfrm>
          <a:prstGeom prst="roundRect">
            <a:avLst>
              <a:gd name="adj" fmla="val 8000"/>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4855464"/>
            <a:ext cx="228600" cy="228600"/>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6</a:t>
            </a:r>
          </a:p>
        </p:txBody>
      </p:sp>
      <p:sp>
        <p:nvSpPr>
          <p:cNvPr id="25" name="TextBox 24"/>
          <p:cNvSpPr txBox="1"/>
          <p:nvPr/>
        </p:nvSpPr>
        <p:spPr>
          <a:xfrm>
            <a:off x="1298448" y="4818888"/>
            <a:ext cx="10149840" cy="402336"/>
          </a:xfrm>
          <a:prstGeom prst="rect">
            <a:avLst/>
          </a:prstGeom>
          <a:noFill/>
        </p:spPr>
        <p:txBody>
          <a:bodyPr wrap="none" lIns="0" rIns="0" tIns="0" bIns="0">
            <a:spAutoFit/>
          </a:bodyPr>
          <a:lstStyle/>
          <a:p>
            <a:pPr>
              <a:lnSpc>
                <a:spcPts val="2196"/>
              </a:lnSpc>
              <a:spcBef>
                <a:spcPts val="0"/>
              </a:spcBef>
              <a:spcAft>
                <a:spcPts val="0"/>
              </a:spcAft>
              <a:defRPr sz="1800" b="0">
                <a:solidFill>
                  <a:srgbClr val="172B46"/>
                </a:solidFill>
                <a:latin typeface="Arial"/>
              </a:defRPr>
            </a:pPr>
            <a:r>
              <a:t>Inspect Board, export CSV and share the configured public link.</a:t>
            </a:r>
          </a:p>
        </p:txBody>
      </p:sp>
      <p:sp>
        <p:nvSpPr>
          <p:cNvPr id="26" name="TextBox 25"/>
          <p:cNvSpPr txBox="1"/>
          <p:nvPr/>
        </p:nvSpPr>
        <p:spPr>
          <a:xfrm>
            <a:off x="704088" y="5824728"/>
            <a:ext cx="10789920" cy="393192"/>
          </a:xfrm>
          <a:prstGeom prst="rect">
            <a:avLst/>
          </a:prstGeom>
          <a:noFill/>
        </p:spPr>
        <p:txBody>
          <a:bodyPr wrap="none" lIns="0" rIns="0" tIns="0" bIns="0">
            <a:spAutoFit/>
          </a:bodyPr>
          <a:lstStyle/>
          <a:p>
            <a:pPr>
              <a:lnSpc>
                <a:spcPts val="1707"/>
              </a:lnSpc>
              <a:spcBef>
                <a:spcPts val="0"/>
              </a:spcBef>
              <a:spcAft>
                <a:spcPts val="0"/>
              </a:spcAft>
              <a:defRPr sz="1400" b="0">
                <a:solidFill>
                  <a:srgbClr val="1967C3"/>
                </a:solidFill>
                <a:latin typeface="Arial"/>
              </a:defRPr>
            </a:pPr>
            <a:r>
              <a:t>Local demo: no real email sends. Hosted integration demo: explicit approval + Gmail Sent check.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96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0698480" cy="274320"/>
          </a:xfrm>
          <a:prstGeom prst="rect">
            <a:avLst/>
          </a:prstGeom>
          <a:noFill/>
        </p:spPr>
        <p:txBody>
          <a:bodyPr wrap="none" lIns="0" rIns="0" tIns="0" bIns="0">
            <a:spAutoFit/>
          </a:bodyPr>
          <a:lstStyle/>
          <a:p>
            <a:pPr>
              <a:lnSpc>
                <a:spcPts val="1342"/>
              </a:lnSpc>
              <a:spcBef>
                <a:spcPts val="0"/>
              </a:spcBef>
              <a:spcAft>
                <a:spcPts val="0"/>
              </a:spcAft>
              <a:defRPr sz="1100" b="1">
                <a:solidFill>
                  <a:srgbClr val="1967C3"/>
                </a:solidFill>
                <a:latin typeface="Arial"/>
              </a:defRPr>
            </a:pPr>
            <a:r>
              <a:t>11 / NEXT STEPS</a:t>
            </a:r>
          </a:p>
        </p:txBody>
      </p:sp>
      <p:sp>
        <p:nvSpPr>
          <p:cNvPr id="4" name="TextBox 3"/>
          <p:cNvSpPr txBox="1"/>
          <p:nvPr/>
        </p:nvSpPr>
        <p:spPr>
          <a:xfrm>
            <a:off x="566928" y="804672"/>
            <a:ext cx="10972800" cy="557784"/>
          </a:xfrm>
          <a:prstGeom prst="rect">
            <a:avLst/>
          </a:prstGeom>
          <a:noFill/>
        </p:spPr>
        <p:txBody>
          <a:bodyPr wrap="none" lIns="0" rIns="0" tIns="0" bIns="0">
            <a:spAutoFit/>
          </a:bodyPr>
          <a:lstStyle/>
          <a:p>
            <a:pPr>
              <a:lnSpc>
                <a:spcPts val="3660"/>
              </a:lnSpc>
              <a:spcBef>
                <a:spcPts val="0"/>
              </a:spcBef>
              <a:spcAft>
                <a:spcPts val="0"/>
              </a:spcAft>
              <a:defRPr sz="3000" b="1">
                <a:solidFill>
                  <a:srgbClr val="172B46"/>
                </a:solidFill>
                <a:latin typeface="Arial"/>
              </a:defRPr>
            </a:pPr>
            <a:r>
              <a:t>A reliable baseline for further development</a:t>
            </a:r>
          </a:p>
        </p:txBody>
      </p:sp>
      <p:sp>
        <p:nvSpPr>
          <p:cNvPr id="5" name="TextBox 4"/>
          <p:cNvSpPr txBox="1"/>
          <p:nvPr/>
        </p:nvSpPr>
        <p:spPr>
          <a:xfrm>
            <a:off x="594360" y="1389888"/>
            <a:ext cx="10881360" cy="393192"/>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Complete external configuration first, then evaluate each new integration.</a:t>
            </a:r>
          </a:p>
        </p:txBody>
      </p:sp>
      <p:sp>
        <p:nvSpPr>
          <p:cNvPr id="6" name="TextBox 5"/>
          <p:cNvSpPr txBox="1"/>
          <p:nvPr/>
        </p:nvSpPr>
        <p:spPr>
          <a:xfrm>
            <a:off x="594360" y="6446520"/>
            <a:ext cx="914400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LoopingCV | Capstone prototype</a:t>
            </a:r>
          </a:p>
        </p:txBody>
      </p:sp>
      <p:sp>
        <p:nvSpPr>
          <p:cNvPr id="7" name="TextBox 6"/>
          <p:cNvSpPr txBox="1"/>
          <p:nvPr/>
        </p:nvSpPr>
        <p:spPr>
          <a:xfrm>
            <a:off x="10972800" y="6446520"/>
            <a:ext cx="640080" cy="210312"/>
          </a:xfrm>
          <a:prstGeom prst="rect">
            <a:avLst/>
          </a:prstGeom>
          <a:noFill/>
        </p:spPr>
        <p:txBody>
          <a:bodyPr wrap="none" lIns="0" rIns="0" tIns="0" bIns="0">
            <a:spAutoFit/>
          </a:bodyPr>
          <a:lstStyle/>
          <a:p>
            <a:pPr>
              <a:lnSpc>
                <a:spcPts val="1098"/>
              </a:lnSpc>
              <a:spcBef>
                <a:spcPts val="0"/>
              </a:spcBef>
              <a:spcAft>
                <a:spcPts val="0"/>
              </a:spcAft>
              <a:defRPr sz="900" b="0">
                <a:solidFill>
                  <a:srgbClr val="5C6D82"/>
                </a:solidFill>
                <a:latin typeface="Arial"/>
              </a:defRPr>
            </a:pPr>
            <a:r>
              <a:t>12 / 12</a:t>
            </a:r>
          </a:p>
        </p:txBody>
      </p:sp>
      <p:sp>
        <p:nvSpPr>
          <p:cNvPr id="8" name="Rounded Rectangle 7"/>
          <p:cNvSpPr/>
          <p:nvPr/>
        </p:nvSpPr>
        <p:spPr>
          <a:xfrm>
            <a:off x="594360" y="1993392"/>
            <a:ext cx="3429000" cy="29718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57984"/>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FUTURE WORK</a:t>
            </a:r>
          </a:p>
        </p:txBody>
      </p:sp>
      <p:sp>
        <p:nvSpPr>
          <p:cNvPr id="10" name="TextBox 9"/>
          <p:cNvSpPr txBox="1"/>
          <p:nvPr/>
        </p:nvSpPr>
        <p:spPr>
          <a:xfrm>
            <a:off x="777240" y="2505456"/>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Evaluate matching</a:t>
            </a:r>
          </a:p>
        </p:txBody>
      </p:sp>
      <p:sp>
        <p:nvSpPr>
          <p:cNvPr id="11" name="TextBox 10"/>
          <p:cNvSpPr txBox="1"/>
          <p:nvPr/>
        </p:nvSpPr>
        <p:spPr>
          <a:xfrm>
            <a:off x="777240" y="3264408"/>
            <a:ext cx="3063240" cy="1527048"/>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Build a labeled résumé/job dataset.</a:t>
            </a:r>
          </a:p>
          <a:p>
            <a:pPr>
              <a:lnSpc>
                <a:spcPts val="1830"/>
              </a:lnSpc>
              <a:spcBef>
                <a:spcPts val="0"/>
              </a:spcBef>
              <a:spcAft>
                <a:spcPts val="0"/>
              </a:spcAft>
              <a:defRPr sz="1500" b="0">
                <a:solidFill>
                  <a:srgbClr val="5C6D82"/>
                </a:solidFill>
                <a:latin typeface="Arial"/>
              </a:defRPr>
            </a:pPr>
            <a:r>
              <a:t>Measure ranking quality and errors.</a:t>
            </a:r>
          </a:p>
          <a:p>
            <a:pPr>
              <a:lnSpc>
                <a:spcPts val="1830"/>
              </a:lnSpc>
              <a:spcBef>
                <a:spcPts val="0"/>
              </a:spcBef>
              <a:spcAft>
                <a:spcPts val="0"/>
              </a:spcAft>
              <a:defRPr sz="1500" b="0">
                <a:solidFill>
                  <a:srgbClr val="5C6D82"/>
                </a:solidFill>
                <a:latin typeface="Arial"/>
              </a:defRPr>
            </a:pPr>
            <a:r>
              <a:t>Compare a semantic model with</a:t>
            </a:r>
          </a:p>
          <a:p>
            <a:pPr>
              <a:lnSpc>
                <a:spcPts val="1830"/>
              </a:lnSpc>
              <a:spcBef>
                <a:spcPts val="0"/>
              </a:spcBef>
              <a:spcAft>
                <a:spcPts val="0"/>
              </a:spcAft>
              <a:defRPr sz="1500" b="0">
                <a:solidFill>
                  <a:srgbClr val="5C6D82"/>
                </a:solidFill>
                <a:latin typeface="Arial"/>
              </a:defRPr>
            </a:pPr>
            <a:r>
              <a:t>the keyword baseline.</a:t>
            </a:r>
          </a:p>
        </p:txBody>
      </p:sp>
      <p:sp>
        <p:nvSpPr>
          <p:cNvPr id="12" name="Rounded Rectangle 11"/>
          <p:cNvSpPr/>
          <p:nvPr/>
        </p:nvSpPr>
        <p:spPr>
          <a:xfrm>
            <a:off x="4379976" y="1993392"/>
            <a:ext cx="3429000" cy="29718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157984"/>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FUTURE WORK</a:t>
            </a:r>
          </a:p>
        </p:txBody>
      </p:sp>
      <p:sp>
        <p:nvSpPr>
          <p:cNvPr id="14" name="TextBox 13"/>
          <p:cNvSpPr txBox="1"/>
          <p:nvPr/>
        </p:nvSpPr>
        <p:spPr>
          <a:xfrm>
            <a:off x="4562856" y="2505456"/>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Add ATS adapters</a:t>
            </a:r>
          </a:p>
        </p:txBody>
      </p:sp>
      <p:sp>
        <p:nvSpPr>
          <p:cNvPr id="15" name="TextBox 14"/>
          <p:cNvSpPr txBox="1"/>
          <p:nvPr/>
        </p:nvSpPr>
        <p:spPr>
          <a:xfrm>
            <a:off x="4562856" y="3264408"/>
            <a:ext cx="3063240" cy="1527048"/>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Choose a supported provider API.</a:t>
            </a:r>
          </a:p>
          <a:p>
            <a:pPr>
              <a:lnSpc>
                <a:spcPts val="1830"/>
              </a:lnSpc>
              <a:spcBef>
                <a:spcPts val="0"/>
              </a:spcBef>
              <a:spcAft>
                <a:spcPts val="0"/>
              </a:spcAft>
              <a:defRPr sz="1500" b="0">
                <a:solidFill>
                  <a:srgbClr val="5C6D82"/>
                </a:solidFill>
                <a:latin typeface="Arial"/>
              </a:defRPr>
            </a:pPr>
            <a:r>
              <a:t>Obtain authorized integration</a:t>
            </a:r>
          </a:p>
          <a:p>
            <a:pPr>
              <a:lnSpc>
                <a:spcPts val="1830"/>
              </a:lnSpc>
              <a:spcBef>
                <a:spcPts val="0"/>
              </a:spcBef>
              <a:spcAft>
                <a:spcPts val="0"/>
              </a:spcAft>
              <a:defRPr sz="1500" b="0">
                <a:solidFill>
                  <a:srgbClr val="5C6D82"/>
                </a:solidFill>
                <a:latin typeface="Arial"/>
              </a:defRPr>
            </a:pPr>
            <a:r>
              <a:t>access.</a:t>
            </a:r>
          </a:p>
          <a:p>
            <a:pPr>
              <a:lnSpc>
                <a:spcPts val="1830"/>
              </a:lnSpc>
              <a:spcBef>
                <a:spcPts val="0"/>
              </a:spcBef>
              <a:spcAft>
                <a:spcPts val="0"/>
              </a:spcAft>
              <a:defRPr sz="1500" b="0">
                <a:solidFill>
                  <a:srgbClr val="5C6D82"/>
                </a:solidFill>
                <a:latin typeface="Arial"/>
              </a:defRPr>
            </a:pPr>
            <a:r>
              <a:t>Keep review, consent and truthful</a:t>
            </a:r>
          </a:p>
          <a:p>
            <a:pPr>
              <a:lnSpc>
                <a:spcPts val="1830"/>
              </a:lnSpc>
              <a:spcBef>
                <a:spcPts val="0"/>
              </a:spcBef>
              <a:spcAft>
                <a:spcPts val="0"/>
              </a:spcAft>
              <a:defRPr sz="1500" b="0">
                <a:solidFill>
                  <a:srgbClr val="5C6D82"/>
                </a:solidFill>
                <a:latin typeface="Arial"/>
              </a:defRPr>
            </a:pPr>
            <a:r>
              <a:t>status.</a:t>
            </a:r>
          </a:p>
        </p:txBody>
      </p:sp>
      <p:sp>
        <p:nvSpPr>
          <p:cNvPr id="16" name="Rounded Rectangle 15"/>
          <p:cNvSpPr/>
          <p:nvPr/>
        </p:nvSpPr>
        <p:spPr>
          <a:xfrm>
            <a:off x="8174736" y="1993392"/>
            <a:ext cx="3429000" cy="2971800"/>
          </a:xfrm>
          <a:prstGeom prst="roundRect">
            <a:avLst>
              <a:gd name="adj" fmla="val 8000"/>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5" y="2157984"/>
            <a:ext cx="3063240" cy="274320"/>
          </a:xfrm>
          <a:prstGeom prst="rect">
            <a:avLst/>
          </a:prstGeom>
          <a:noFill/>
        </p:spPr>
        <p:txBody>
          <a:bodyPr wrap="none" lIns="0" rIns="0" tIns="0" bIns="0">
            <a:spAutoFit/>
          </a:bodyPr>
          <a:lstStyle/>
          <a:p>
            <a:pPr>
              <a:lnSpc>
                <a:spcPts val="1220"/>
              </a:lnSpc>
              <a:spcBef>
                <a:spcPts val="0"/>
              </a:spcBef>
              <a:spcAft>
                <a:spcPts val="0"/>
              </a:spcAft>
              <a:defRPr sz="1000" b="1">
                <a:solidFill>
                  <a:srgbClr val="1967C3"/>
                </a:solidFill>
                <a:latin typeface="Arial"/>
              </a:defRPr>
            </a:pPr>
            <a:r>
              <a:t>FUTURE WORK</a:t>
            </a:r>
          </a:p>
        </p:txBody>
      </p:sp>
      <p:sp>
        <p:nvSpPr>
          <p:cNvPr id="18" name="TextBox 17"/>
          <p:cNvSpPr txBox="1"/>
          <p:nvPr/>
        </p:nvSpPr>
        <p:spPr>
          <a:xfrm>
            <a:off x="8357615" y="2505456"/>
            <a:ext cx="3063240" cy="658368"/>
          </a:xfrm>
          <a:prstGeom prst="rect">
            <a:avLst/>
          </a:prstGeom>
          <a:noFill/>
        </p:spPr>
        <p:txBody>
          <a:bodyPr wrap="none" lIns="0" rIns="0" tIns="0" bIns="0">
            <a:spAutoFit/>
          </a:bodyPr>
          <a:lstStyle/>
          <a:p>
            <a:pPr>
              <a:lnSpc>
                <a:spcPts val="2440"/>
              </a:lnSpc>
              <a:spcBef>
                <a:spcPts val="0"/>
              </a:spcBef>
              <a:spcAft>
                <a:spcPts val="0"/>
              </a:spcAft>
              <a:defRPr sz="2000" b="1">
                <a:solidFill>
                  <a:srgbClr val="172B46"/>
                </a:solidFill>
                <a:latin typeface="Arial"/>
              </a:defRPr>
            </a:pPr>
            <a:r>
              <a:t>Extend tracking</a:t>
            </a:r>
          </a:p>
        </p:txBody>
      </p:sp>
      <p:sp>
        <p:nvSpPr>
          <p:cNvPr id="19" name="TextBox 18"/>
          <p:cNvSpPr txBox="1"/>
          <p:nvPr/>
        </p:nvSpPr>
        <p:spPr>
          <a:xfrm>
            <a:off x="8357615" y="3264408"/>
            <a:ext cx="3063240" cy="1527048"/>
          </a:xfrm>
          <a:prstGeom prst="rect">
            <a:avLst/>
          </a:prstGeom>
          <a:noFill/>
        </p:spPr>
        <p:txBody>
          <a:bodyPr wrap="none" lIns="0" rIns="0" tIns="0" bIns="0">
            <a:spAutoFit/>
          </a:bodyPr>
          <a:lstStyle/>
          <a:p>
            <a:pPr>
              <a:lnSpc>
                <a:spcPts val="1830"/>
              </a:lnSpc>
              <a:spcBef>
                <a:spcPts val="0"/>
              </a:spcBef>
              <a:spcAft>
                <a:spcPts val="0"/>
              </a:spcAft>
              <a:defRPr sz="1500" b="0">
                <a:solidFill>
                  <a:srgbClr val="5C6D82"/>
                </a:solidFill>
                <a:latin typeface="Arial"/>
              </a:defRPr>
            </a:pPr>
            <a:r>
              <a:t>Add consented inbox read access.</a:t>
            </a:r>
          </a:p>
          <a:p>
            <a:pPr>
              <a:lnSpc>
                <a:spcPts val="1830"/>
              </a:lnSpc>
              <a:spcBef>
                <a:spcPts val="0"/>
              </a:spcBef>
              <a:spcAft>
                <a:spcPts val="0"/>
              </a:spcAft>
              <a:defRPr sz="1500" b="0">
                <a:solidFill>
                  <a:srgbClr val="5C6D82"/>
                </a:solidFill>
                <a:latin typeface="Arial"/>
              </a:defRPr>
            </a:pPr>
            <a:r>
              <a:t>Classify real replies conservatively.</a:t>
            </a:r>
          </a:p>
          <a:p>
            <a:pPr>
              <a:lnSpc>
                <a:spcPts val="1830"/>
              </a:lnSpc>
              <a:spcBef>
                <a:spcPts val="0"/>
              </a:spcBef>
              <a:spcAft>
                <a:spcPts val="0"/>
              </a:spcAft>
              <a:defRPr sz="1500" b="0">
                <a:solidFill>
                  <a:srgbClr val="5C6D82"/>
                </a:solidFill>
                <a:latin typeface="Arial"/>
              </a:defRPr>
            </a:pPr>
            <a:r>
              <a:t>Improve monitoring and worker</a:t>
            </a:r>
          </a:p>
          <a:p>
            <a:pPr>
              <a:lnSpc>
                <a:spcPts val="1830"/>
              </a:lnSpc>
              <a:spcBef>
                <a:spcPts val="0"/>
              </a:spcBef>
              <a:spcAft>
                <a:spcPts val="0"/>
              </a:spcAft>
              <a:defRPr sz="1500" b="0">
                <a:solidFill>
                  <a:srgbClr val="5C6D82"/>
                </a:solidFill>
                <a:latin typeface="Arial"/>
              </a:defRPr>
            </a:pPr>
            <a:r>
              <a:t>scale.</a:t>
            </a:r>
          </a:p>
        </p:txBody>
      </p:sp>
      <p:sp>
        <p:nvSpPr>
          <p:cNvPr id="20" name="TextBox 19"/>
          <p:cNvSpPr txBox="1"/>
          <p:nvPr/>
        </p:nvSpPr>
        <p:spPr>
          <a:xfrm>
            <a:off x="685800" y="5330952"/>
            <a:ext cx="10881360" cy="475488"/>
          </a:xfrm>
          <a:prstGeom prst="rect">
            <a:avLst/>
          </a:prstGeom>
          <a:noFill/>
        </p:spPr>
        <p:txBody>
          <a:bodyPr wrap="none" lIns="0" rIns="0" tIns="0" bIns="0">
            <a:spAutoFit/>
          </a:bodyPr>
          <a:lstStyle/>
          <a:p>
            <a:pPr>
              <a:lnSpc>
                <a:spcPts val="2806"/>
              </a:lnSpc>
              <a:spcBef>
                <a:spcPts val="0"/>
              </a:spcBef>
              <a:spcAft>
                <a:spcPts val="0"/>
              </a:spcAft>
              <a:defRPr sz="2300" b="1">
                <a:solidFill>
                  <a:srgbClr val="1967C3"/>
                </a:solidFill>
                <a:latin typeface="Arial"/>
              </a:defRPr>
            </a:pPr>
            <a:r>
              <a:t>Today: explainable discovery, private review and approval safeguards.</a:t>
            </a:r>
          </a:p>
        </p:txBody>
      </p:sp>
      <p:sp>
        <p:nvSpPr>
          <p:cNvPr id="21" name="TextBox 20"/>
          <p:cNvSpPr txBox="1"/>
          <p:nvPr/>
        </p:nvSpPr>
        <p:spPr>
          <a:xfrm>
            <a:off x="685800" y="5925312"/>
            <a:ext cx="10881360" cy="320040"/>
          </a:xfrm>
          <a:prstGeom prst="rect">
            <a:avLst/>
          </a:prstGeom>
          <a:noFill/>
        </p:spPr>
        <p:txBody>
          <a:bodyPr wrap="none" lIns="0" rIns="0" tIns="0" bIns="0">
            <a:spAutoFit/>
          </a:bodyPr>
          <a:lstStyle/>
          <a:p>
            <a:pPr>
              <a:lnSpc>
                <a:spcPts val="1952"/>
              </a:lnSpc>
              <a:spcBef>
                <a:spcPts val="0"/>
              </a:spcBef>
              <a:spcAft>
                <a:spcPts val="0"/>
              </a:spcAft>
              <a:defRPr sz="1600" b="0">
                <a:solidFill>
                  <a:srgbClr val="5C6D82"/>
                </a:solidFill>
                <a:latin typeface="Aria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LoopingCV — Capstone Project</dc:title>
  <dc:subject>Explainable job discovery and approved applications</dc:subject>
  <dc:creator>LoopingCV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